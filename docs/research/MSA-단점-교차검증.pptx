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0" y="320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spc="200" kern="0" dirty="0">
                <a:solidFill>
                  <a:srgbClr val="23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교차검증 리포트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5528" y="1828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마이크로서비스(MSA)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 교차검증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장점만 부각하는 주장을 균형 있게 반박하기 위한 실사례·근거 모음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3383280" cy="822960"/>
          </a:xfrm>
          <a:prstGeom prst="rect">
            <a:avLst/>
          </a:prstGeom>
          <a:solidFill>
            <a:srgbClr val="262C42"/>
          </a:solidFill>
          <a:ln w="12700">
            <a:solidFill>
              <a:srgbClr val="333B57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실사례 후기  </a:t>
            </a:r>
            <a:pPr indent="0" marL="0">
              <a:buNone/>
            </a:pPr>
            <a:r>
              <a:rPr lang="en-US" sz="10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5건 (Segment·Prime Video·카카오페이 등)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5257800"/>
            <a:ext cx="3383280" cy="822960"/>
          </a:xfrm>
          <a:prstGeom prst="rect">
            <a:avLst/>
          </a:prstGeom>
          <a:solidFill>
            <a:srgbClr val="262C42"/>
          </a:solidFill>
          <a:ln w="12700">
            <a:solidFill>
              <a:srgbClr val="333B57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확인된 단점  </a:t>
            </a:r>
            <a:pPr indent="0" marL="0">
              <a:buNone/>
            </a:pPr>
            <a:r>
              <a:rPr lang="en-US" sz="10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테마 · 다수 출처 교차확인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0" y="5257800"/>
            <a:ext cx="3383280" cy="822960"/>
          </a:xfrm>
          <a:prstGeom prst="rect">
            <a:avLst/>
          </a:prstGeom>
          <a:solidFill>
            <a:srgbClr val="262C42"/>
          </a:solidFill>
          <a:ln w="12700">
            <a:solidFill>
              <a:srgbClr val="333B57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 </a:t>
            </a:r>
            <a:pPr indent="0" marL="0">
              <a:buNone/>
            </a:pPr>
            <a:r>
              <a:rPr lang="en-US" sz="10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적대적 3표결 · 확정 22 / 기각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보는 결론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212080" cy="1417320"/>
          </a:xfrm>
          <a:prstGeom prst="rect">
            <a:avLst/>
          </a:prstGeom>
          <a:solidFill>
            <a:srgbClr val="EAF3F0"/>
          </a:solidFill>
          <a:ln w="12700">
            <a:solidFill>
              <a:srgbClr val="2E8C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82296" cy="1417320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이득이 성립하는 전제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+ 여러 독립 팀 + 성숙한 DevOps·관측성 + 명확한 도메인 경계.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조합에서만 독립 배포·부분 확장·팀 자율성 이득이 비용을 넘는다.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1554480"/>
            <a:ext cx="5650992" cy="1417320"/>
          </a:xfrm>
          <a:prstGeom prst="rect">
            <a:avLst/>
          </a:prstGeom>
          <a:solidFill>
            <a:srgbClr val="F7ECEA"/>
          </a:solidFill>
          <a:ln w="12700">
            <a:solidFill>
              <a:srgbClr val="C33F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554480"/>
            <a:ext cx="82296" cy="141732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7373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전제가 빠지면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0" y="21031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모놀리스와 MSA의 단점만 결합된 “분산 모놀리스”가 된다 — 강하게 결합돼 있으면서 개별 배포까지 해야 하는 최악의 조합. 실제 기업들이 이 지점에서 모놀리스로 회귀했다.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246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확인된 단점 7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639312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639312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18" name="Text 14"/>
          <p:cNvSpPr/>
          <p:nvPr/>
        </p:nvSpPr>
        <p:spPr>
          <a:xfrm>
            <a:off x="713232" y="363931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복잡도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429000" y="3639312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29000" y="3639312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21" name="Text 17"/>
          <p:cNvSpPr/>
          <p:nvPr/>
        </p:nvSpPr>
        <p:spPr>
          <a:xfrm>
            <a:off x="3593592" y="363931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트랜잭션·정합성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09360" y="3639312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09360" y="3639312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24" name="Text 20"/>
          <p:cNvSpPr/>
          <p:nvPr/>
        </p:nvSpPr>
        <p:spPr>
          <a:xfrm>
            <a:off x="6473952" y="363931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지연·장애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9189720" y="3639312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189720" y="3639312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27" name="Text 23"/>
          <p:cNvSpPr/>
          <p:nvPr/>
        </p:nvSpPr>
        <p:spPr>
          <a:xfrm>
            <a:off x="9354312" y="363931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비용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48640" y="4352544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8640" y="4352544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0" name="Text 26"/>
          <p:cNvSpPr/>
          <p:nvPr/>
        </p:nvSpPr>
        <p:spPr>
          <a:xfrm>
            <a:off x="713232" y="435254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디버깅·테스트 난이도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3429000" y="4352544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429000" y="4352544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3" name="Text 29"/>
          <p:cNvSpPr/>
          <p:nvPr/>
        </p:nvSpPr>
        <p:spPr>
          <a:xfrm>
            <a:off x="3593592" y="435254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역량 요구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309360" y="4352544"/>
            <a:ext cx="2761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309360" y="4352544"/>
            <a:ext cx="64008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6" name="Text 32"/>
          <p:cNvSpPr/>
          <p:nvPr/>
        </p:nvSpPr>
        <p:spPr>
          <a:xfrm>
            <a:off x="6473952" y="435254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배포·버전 파편화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· 실사례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— 마이크로서비스에서 모놀리스로 회귀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상세하게 공개된 postmortem. 담당 엔지니어 Alexandra Noonan, “Goodbye Microservices” (Twilio/Segment, 2018)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38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140+ → 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04088" y="2578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마이크로서비스를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모놀리스로 통합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07408" y="1938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 3명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425696" y="2578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시스템을 그저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살려두는 데만 소모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178308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9016" y="1938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1주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8147304" y="2578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라이브러리 한 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변경에 드는 노력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91672" cy="1234440"/>
          </a:xfrm>
          <a:prstGeom prst="rect">
            <a:avLst/>
          </a:prstGeom>
          <a:solidFill>
            <a:srgbClr val="1A1E2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3931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80160" y="35661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our velocity plummeted, our defect rate exploded.”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속도는 급락하고 결함 발생률은 폭증했다. 운영 오버헤드는 연동을 하나 추가할 때마다 선형적으로 증가했다.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8920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48646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균형: </a:t>
            </a:r>
            <a:pPr indent="0" marL="0">
              <a:buNone/>
            </a:pPr>
            <a:r>
              <a:rPr lang="en-US" sz="11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회귀에도 대가가 있다 — 모놀리스라 장애 격리가 약해져 한 곳의 버그가 전체를 멈출 수 있다. MSA가 원리적으로 틀린 게 아니라, 그 팀·그 규모에서 비용이 이득을 초과했다는 사례.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twilio.com/.../goodbye-microservices · tech.ssut.me/goodbye-microservice · infoq.com/news/2020/04/microservices-back-again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 · 실사례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Prime Video — 서버리스/MSA → 모놀리스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880360" cy="1554480"/>
          </a:xfrm>
          <a:prstGeom prst="rect">
            <a:avLst/>
          </a:prstGeom>
          <a:solidFill>
            <a:srgbClr val="1A1E2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인프라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08760"/>
            <a:ext cx="2880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91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66160" y="24505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부하의 이 지점에서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 스케일 한계 도달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508760"/>
            <a:ext cx="5056632" cy="1554480"/>
          </a:xfrm>
          <a:prstGeom prst="rect">
            <a:avLst/>
          </a:prstGeom>
          <a:solidFill>
            <a:srgbClr val="F7ECEA"/>
          </a:solidFill>
          <a:ln w="12700">
            <a:solidFill>
              <a:srgbClr val="C33F2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69164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59752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과장하지 말 것 — 정확한 프레이밍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84848" y="2057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“아마존이 마이크로서비스를 버렸다”가 아니다. Prime Video 내부 한 팀(Video Quality Analysis)이 서버리스 프로토타입(Step Functions+Lambda)을 단일 프로세스로 재설계한 것. 5% 한계도 “그 팀이 구현한 방식”에 종속.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11091672" cy="1371600"/>
          </a:xfrm>
          <a:prstGeom prst="rect">
            <a:avLst/>
          </a:prstGeom>
          <a:solidFill>
            <a:srgbClr val="1A1E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0215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340156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“Microservices and serverless components are tools that do work at high scale, but whether to use them over monolith has to be made on a case-by-case basis.”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Marcin Kolny, Prime Video 선임 엔지니어. MSA를 부정한 게 아니라 사례별 판단을 강조 (교차검증 균형점).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4892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thestack.technology/amazon-prime-video-microservices-monolith · thenewstack.io/return-of-the-monolith-...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· 실사례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카카오페이 결제팀 — 분산 트랜잭션의 실제 고통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모놀리스의 단순한 로컬 트랜잭션이 MSA에서는 별도의 난제가 된다. 서비스마다 DB가 분리돼 있기 때문.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2468880"/>
          </a:xfrm>
          <a:prstGeom prst="rect">
            <a:avLst/>
          </a:prstGeom>
          <a:solidFill>
            <a:srgbClr val="1A1E2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D992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52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30723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타임아웃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493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응답을 못 받아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트랜잭션 성공/실패를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판단할 수 없음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96512" y="265176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306824" y="1783080"/>
            <a:ext cx="3566160" cy="2468880"/>
          </a:xfrm>
          <a:prstGeom prst="rect">
            <a:avLst/>
          </a:prstGeom>
          <a:solidFill>
            <a:srgbClr val="1A1E2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81144" y="2057400"/>
            <a:ext cx="685800" cy="685800"/>
          </a:xfrm>
          <a:prstGeom prst="ellipse">
            <a:avLst/>
          </a:prstGeom>
          <a:solidFill>
            <a:srgbClr val="C33F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22199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81144" y="2852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81144" y="30723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 트랜잭션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81144" y="3493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되돌리려 결제 무효화 →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요청도 응답을 못 받으면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“보상의 보상” 무한 재귀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54696" y="265176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8065008" y="1783080"/>
            <a:ext cx="3566160" cy="2468880"/>
          </a:xfrm>
          <a:prstGeom prst="rect">
            <a:avLst/>
          </a:prstGeom>
          <a:solidFill>
            <a:srgbClr val="1A1E2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39328" y="2057400"/>
            <a:ext cx="685800" cy="685800"/>
          </a:xfrm>
          <a:prstGeom prst="ellipse">
            <a:avLst/>
          </a:prstGeom>
          <a:solidFill>
            <a:srgbClr val="2E8C7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221992"/>
            <a:ext cx="356616" cy="35661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39328" y="2852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339328" y="30723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339328" y="3493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try-catch 중첩으론 위험.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Success/Failure/Unknown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3상태 ActResult 자체 구현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262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45079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pPr indent="0" marL="0">
              <a:buNone/>
            </a:pPr>
            <a:r>
              <a:rPr lang="en-US" sz="12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“무조건적 롤백”에 기댈 수 없어 도메인마다 트랜잭션을 개별 설계해야 하는 추가 엔지니어링 비용이 상시 발생한다. Saga·이벤트 소싱·CQRS 등 고난도 패턴이 선택이 아닌 필수가 된다.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tech.kakaopay.com/post/msa-transaction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확인된 단점 7 — 여러 독립 출처가 수렴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55648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928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복잡도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배포·인프라·장애 지점이 늘고 상호작용 파악이 어려움. 서비스 디스커버리·모니터링·추적 투자를 과소평가하는 게 최다 실패.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1755648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8928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트랜잭션·정합성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0168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서비스별 DB → 걸친 정합성이 별도 과제. 2PL·Saga·이벤트소싱·CQRS가 필수. 타임아웃·보상 트랜잭션 문제.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10528" y="1755648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8928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지연·장애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10528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호출이 네트워크 경유 → 지연·장애·부하. 홉이 늘수록 지연 처리 정책 별도 필요. 인프라 업그레이드 비용 수반.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9189720" y="1554480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1755648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18928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비용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90888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인스턴스가 늘어 자원 소비↑. 서비스마다 테스트·배포·호스팅·모니터링 자체 비용 → 인프라비 기하급수 증가 가능.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3822192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4023360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1605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46634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디버깅·테스트 난이도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49808" y="50109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프로세스가 여러 시스템에 걸치고 로그가 분산 → 추적 난이도↑. 통합 테스트 오케스트레이션이 복잡(Segment: 테스트 1시간).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3429000" y="3822192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30168" y="4023360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416052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30168" y="46634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역량 요구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630168" y="50109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모놀리스보다 훨씬 높은 개발·운영 역량 + 문화적 전환 필요. 준비 없이 도입 시 “분산 모놀리스” 함정.</a:t>
            </a:r>
            <a:endParaRPr lang="en-US" sz="980" dirty="0"/>
          </a:p>
        </p:txBody>
      </p:sp>
      <p:sp>
        <p:nvSpPr>
          <p:cNvPr id="35" name="Shape 27"/>
          <p:cNvSpPr/>
          <p:nvPr/>
        </p:nvSpPr>
        <p:spPr>
          <a:xfrm>
            <a:off x="6309360" y="3822192"/>
            <a:ext cx="276148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10528" y="4023360"/>
            <a:ext cx="566928" cy="566928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160520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10528" y="46634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배포·버전 파편화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510528" y="50109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서비스 변경이 연쇄 영향 → 버저닝·호환성 문제. 공유 라이브러리 변경에 수십~140개 서비스 재배포·테스트.</a:t>
            </a:r>
            <a:endParaRPr lang="en-US" sz="980" dirty="0"/>
          </a:p>
        </p:txBody>
      </p:sp>
      <p:sp>
        <p:nvSpPr>
          <p:cNvPr id="40" name="Shape 31"/>
          <p:cNvSpPr/>
          <p:nvPr/>
        </p:nvSpPr>
        <p:spPr>
          <a:xfrm>
            <a:off x="9189720" y="3822192"/>
            <a:ext cx="2761488" cy="2121408"/>
          </a:xfrm>
          <a:prstGeom prst="rect">
            <a:avLst/>
          </a:prstGeom>
          <a:solidFill>
            <a:srgbClr val="F7ECEA"/>
          </a:solidFill>
          <a:ln w="12700">
            <a:solidFill>
              <a:srgbClr val="C33F2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90888" y="4023360"/>
            <a:ext cx="566928" cy="566928"/>
          </a:xfrm>
          <a:prstGeom prst="ellipse">
            <a:avLst/>
          </a:prstGeom>
          <a:solidFill>
            <a:srgbClr val="F4DAD6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48" y="416052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90888" y="46634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피해야 할 조건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390888" y="50109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10~15명 미만 팀 · DevOps 미성숙 · 관측성 부족 · 경계 불명확 · MVP·초기 제품에서는 MSA 재고.</a:t>
            </a:r>
            <a:endParaRPr lang="en-US" sz="980" dirty="0"/>
          </a:p>
        </p:txBody>
      </p:sp>
      <p:sp>
        <p:nvSpPr>
          <p:cNvPr id="45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— MSA가 정당한 경우 vs 상대가 옳은 지점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C7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658368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7393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737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MSA가 정당한 조건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+ 여러 독립 팀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성숙한 DevOps·CI/CD·관측성 기반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도메인 경계(서비스 분할 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이때 독립 배포·부분 확장·팀 자율성 이득이 운영 비용을 초과 (Kolny: tools that do work at high scale)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600200"/>
            <a:ext cx="54406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92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600200"/>
            <a:ext cx="5440680" cy="658368"/>
          </a:xfrm>
          <a:prstGeom prst="rect">
            <a:avLst/>
          </a:prstGeom>
          <a:solidFill>
            <a:srgbClr val="D992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7393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39712" y="1737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주장이 옳은 지점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9672" y="251460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 사례는 “우리 규모·우리 구현” 한정 — MSA가 원리적으로 틀렸다는 증명은 아님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 회귀에도 대가(장애 격리 약화)가 따른다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진화 경로: 모놀리스 → 모듈러 모놀리스 → MSA (Fowler, MonolithFirst)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문제는 “MSA는 좋다”가 아니라, 전제와 비용을 생략한 채 만능처럼 제시하는 것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TOOLKIT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 체크리스트 — 장점 주장에 되물을 7가지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71907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5544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배포·확장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몇 개인가? 서비스 경계가 도메인과 일치하나? 아니면 분산 모놀리스.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1907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11" name="Text 9"/>
          <p:cNvSpPr/>
          <p:nvPr/>
        </p:nvSpPr>
        <p:spPr>
          <a:xfrm>
            <a:off x="6364224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1152" y="15544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격리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트랜잭션·정합성 비용(Saga·보상)은 누가 감당하나?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" y="258775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61872" y="24231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간 데이터 전송 비용이 대규모에서 폭증하지 않는 구조인가?(Prime Video)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258775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31152" y="24231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개발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라이브러리 변경 시 몇 개 서비스를 재배포·테스트하나?(Segment 140+, 1시간)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" y="345643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61872" y="32918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서비스별 인프라·모니터링·온콜 비용을 합산했나? 실측 비교치가 있나?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17920" y="3291840"/>
            <a:ext cx="5440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64224" y="345643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31152" y="32918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확장성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DevOps·관측성·분산 추적 선행 투자가 준비됐나? 팀 15명 미만이면 재고.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" y="4325112"/>
            <a:ext cx="420624" cy="420624"/>
          </a:xfrm>
          <a:prstGeom prst="ellipse">
            <a:avLst/>
          </a:prstGeom>
          <a:solidFill>
            <a:srgbClr val="1A1E2E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61872" y="4160520"/>
            <a:ext cx="10222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대안 검토  →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모듈러 모놀리스로 같은 이득 일부를 더 싸게 얻을 수 있지 않나?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· 도입 판단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도입 결정 — 검증된 프레임워크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9436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943600" cy="1828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Fowler — Microservice Prerequisites (2014)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must be this tall” — 프로덕션 투입 전 4대 필수 역량. 하나라도 없으면 먼저 갖춘 뒤 도입.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530352" cy="530352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5176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4780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빠른 프로비저닝</a:t>
            </a:r>
            <a:endParaRPr lang="en-US" sz="11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서버를 며칠이 아니라 시간 단위로 띄우기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22960" y="3300984"/>
            <a:ext cx="530352" cy="530352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381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264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기본 모니터링</a:t>
            </a:r>
            <a:endParaRPr lang="en-US" sz="11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즉시 감지·추적 + 이전 버전 롤백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822960" y="4087368"/>
            <a:ext cx="530352" cy="530352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245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50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빠른 배포</a:t>
            </a:r>
            <a:endParaRPr lang="en-US" sz="11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파이프라인으로 수 시간 내 배포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822960" y="4873752"/>
            <a:ext cx="530352" cy="530352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109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8371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DevOps 문화</a:t>
            </a:r>
            <a:endParaRPr lang="en-US" sz="11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개발·운영 긴밀 협업 조직·문화</a:t>
            </a:r>
            <a:endParaRPr lang="en-US" sz="1180" dirty="0"/>
          </a:p>
        </p:txBody>
      </p:sp>
      <p:sp>
        <p:nvSpPr>
          <p:cNvPr id="21" name="Shape 15"/>
          <p:cNvSpPr/>
          <p:nvPr/>
        </p:nvSpPr>
        <p:spPr>
          <a:xfrm>
            <a:off x="6675120" y="1481328"/>
            <a:ext cx="4965192" cy="4343400"/>
          </a:xfrm>
          <a:prstGeom prst="rect">
            <a:avLst/>
          </a:prstGeom>
          <a:solidFill>
            <a:srgbClr val="1A1E2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69164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33488" y="16916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Newman — 결정 원칙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903720" y="2148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기본값은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모놀리스.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정말 좋은 이유가 없으면 단일 프로세스로 간다.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90372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MSA를 택할 좋은 이유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7040880" y="305409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배포 가능성 (나머지를 안 건드리고 배포)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데이터·처리 격리 (규제·컴플라이언스)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자율성 (분산 팀에 책임 위임)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903720" y="4041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피해야 하는 경우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40880" y="4306824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불명확한데 유행만 좇을 때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제품·스타트업 (경계 미확정)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직접 설치·운영하는 소프트웨어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903720" y="5321808"/>
            <a:ext cx="4526280" cy="384048"/>
          </a:xfrm>
          <a:prstGeom prst="rect">
            <a:avLst/>
          </a:prstGeom>
          <a:solidFill>
            <a:srgbClr val="2E3450"/>
          </a:solidFill>
          <a:ln/>
        </p:spPr>
      </p:sp>
      <p:sp>
        <p:nvSpPr>
          <p:cNvPr id="30" name="Text 23"/>
          <p:cNvSpPr/>
          <p:nvPr/>
        </p:nvSpPr>
        <p:spPr>
          <a:xfrm>
            <a:off x="6995160" y="53218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전환은 빅뱅 재작성 금지 → Strangler Fig로 한 모듈부터</a:t>
            </a:r>
            <a:endParaRPr lang="en-US" sz="98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· 준비도 점검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전 준비도 평가 (Microsoft) + Go / No-Go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Architecture Center 「Microservices Assessment and Readiness」 — 각 축마다 현재 상태와 목표 격차를 기록해 차단요인/개선으로 분류.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470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우선순위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혁신·신뢰성·효율 중 목표 + SLO 정의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691640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8470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11880" y="222199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도메인(DDD) 기반 작고 교차기능적 팀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1691640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691640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8470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준비도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222199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CI/CD·지속적 모니터링 실제 운용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189720" y="1691640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89720" y="1691640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8745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38360" y="184708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준비도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372600" y="222199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컨테이너·오토스케일·DR·자동 프로비저닝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2990088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2990088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7296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1455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트랜잭션 처리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31520" y="352044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Saga·이벤트소싱·CQRS·보상 패턴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429000" y="2990088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29000" y="2990088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17296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977640" y="31455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611880" y="352044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추적(Trace ID)·OpenTelemetry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309360" y="2990088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09360" y="2990088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17296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58000" y="31455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492240" y="352044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Trust·토큰 검증·mTLS·시크릿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9189720" y="2990088"/>
            <a:ext cx="27614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89720" y="2990088"/>
            <a:ext cx="64008" cy="1170432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3172968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738360" y="31455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릴리스/배포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9372600" y="352044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시맨틱·API 버저닝·IaC·불변 인프라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548640" y="4526280"/>
            <a:ext cx="5486400" cy="1188720"/>
          </a:xfrm>
          <a:prstGeom prst="rect">
            <a:avLst/>
          </a:prstGeom>
          <a:solidFill>
            <a:srgbClr val="EAF3F0"/>
          </a:solidFill>
          <a:ln w="15240">
            <a:solidFill>
              <a:srgbClr val="2E8C7C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548640" y="4526280"/>
            <a:ext cx="82296" cy="1188720"/>
          </a:xfrm>
          <a:prstGeom prst="rect">
            <a:avLst/>
          </a:prstGeom>
          <a:solidFill>
            <a:srgbClr val="2E8C7C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690872"/>
            <a:ext cx="292608" cy="29260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133856" y="4672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— 도입 검토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1133856" y="50017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Fowler 4대 역량 확보 + 여러 독립 팀 + 명확한 도메인 경계 + 측정 가능한 목적(독립배포·데이터격리·팀자율성). → Strangler Fig로 한 모듈부터.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6153912" y="4526280"/>
            <a:ext cx="5486400" cy="1188720"/>
          </a:xfrm>
          <a:prstGeom prst="rect">
            <a:avLst/>
          </a:prstGeom>
          <a:solidFill>
            <a:srgbClr val="F7ECEA"/>
          </a:solidFill>
          <a:ln w="15240">
            <a:solidFill>
              <a:srgbClr val="C33F2E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153912" y="4526280"/>
            <a:ext cx="82296" cy="118872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690872"/>
            <a:ext cx="292608" cy="29260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739128" y="4672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 — 도입 보류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6739128" y="50017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4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역량 결여 / 팀 15명 미만·단일 팀 / 도메인 경계 불명확·신규 제품 / “왜 MSA”에 목적 없음 / 자체 설치형. → 모놀리스·모듈러 모놀리스 유지.</a:t>
            </a:r>
            <a:endParaRPr lang="en-US" sz="100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57" name="Text 4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8952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신뢰도 주의 — 걸러낸 근거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교차검증의 신뢰도를 위해, 유혹적이지만 쓰면 안 되는 근거를 투명하게 표기한다.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10634472" cy="868680"/>
          </a:xfrm>
          <a:prstGeom prst="rect">
            <a:avLst/>
          </a:prstGeom>
          <a:solidFill>
            <a:srgbClr val="262C42"/>
          </a:solidFill>
          <a:ln w="12700">
            <a:solidFill>
              <a:srgbClr val="343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73152" cy="86868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299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562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기각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0" y="1837944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“Segment 250 서비스 / 16,000 컨테이너” 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출처 수치로 기각. 1차 출처는 “140+ 서비스” — 그 값만 사용. 컨테이너 수 인용 금지.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77240" y="2697480"/>
            <a:ext cx="10634472" cy="868680"/>
          </a:xfrm>
          <a:prstGeom prst="rect">
            <a:avLst/>
          </a:prstGeom>
          <a:solidFill>
            <a:srgbClr val="262C42"/>
          </a:solidFill>
          <a:ln w="12700">
            <a:solidFill>
              <a:srgbClr val="343B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697480"/>
            <a:ext cx="73152" cy="86868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900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8163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 기각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57600" y="2798064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“5% 부하 = 마이크로서비스는 확장 실패” 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인용문 자체는 유효하나 일반화는 기각. “그 팀이 구현한 방식” 한정으로만 인용.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777240" y="3657600"/>
            <a:ext cx="10634472" cy="868680"/>
          </a:xfrm>
          <a:prstGeom prst="rect">
            <a:avLst/>
          </a:prstGeom>
          <a:solidFill>
            <a:srgbClr val="262C42"/>
          </a:solidFill>
          <a:ln w="12700">
            <a:solidFill>
              <a:srgbClr val="343B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657600"/>
            <a:ext cx="73152" cy="86868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5020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764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만장일치 기각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657600" y="3758184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“장애 격리에 10,000+ 서비스 필요” 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keep / 3 refute — 문서에서 완전 제외.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777240" y="4617720"/>
            <a:ext cx="10634472" cy="868680"/>
          </a:xfrm>
          <a:prstGeom prst="rect">
            <a:avLst/>
          </a:prstGeom>
          <a:solidFill>
            <a:srgbClr val="262C42"/>
          </a:solidFill>
          <a:ln w="12700">
            <a:solidFill>
              <a:srgbClr val="343B5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617720"/>
            <a:ext cx="73152" cy="868680"/>
          </a:xfrm>
          <a:prstGeom prst="rect">
            <a:avLst/>
          </a:prstGeom>
          <a:solidFill>
            <a:srgbClr val="C33F2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1032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7365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33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픽션 소스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657600" y="4718304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블로그 “처참히 실패한 MSA 전환”(2024-10)  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저자가 “배경은 픽션” 명시. 실사례 인용 금지, 개념 설명용으로만.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 한계: </a:t>
            </a:r>
            <a:pPr indent="0" marL="0">
              <a:buNone/>
            </a:pPr>
            <a:r>
              <a:rPr lang="en-US" sz="10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 96개 주장 중 25개만 적대적 검증. 정성적 단점은 다수 출처로 견고하나, 개별 수치(90%·5%·140+·“엔지니어 3명”)는 1차 출처 원문과 대조해 인용할 것.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9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결론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MSA의 이득은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D9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전제 조건부다.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대규모·다팀·성숙한 DevOps가 없으면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단점만 결합된 “분산 모놀리스”가 된다.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기업들(Segment·Prime Video)은 그 지점에서 모놀리스로 회귀했고, 그 후기를 공개했다. 상대를 반박할 때 부정할 것은 “MSA는 좋다”가 아니라 “전제·비용을 생략한 만능론”이다.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515600" cy="0"/>
          </a:xfrm>
          <a:prstGeom prst="line">
            <a:avLst/>
          </a:prstGeom>
          <a:noFill/>
          <a:ln w="12700">
            <a:solidFill>
              <a:srgbClr val="343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근거·인용·출처 링크: docs/research/msa-단점-교차검증.md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deep-research 다중검색 22개 출처 · 96개 주장 추출 · 적대적 3표결 검증(확정 22 / 기각 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단점 교차검증 · 출처 22 · 확정 22 / 기각 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 단점 교차검증</dc:title>
  <dc:subject>PptxGenJS Presentation</dc:subject>
  <dc:creator>ddobak research</dc:creator>
  <cp:lastModifiedBy>ddobak research</cp:lastModifiedBy>
  <cp:revision>1</cp:revision>
  <dcterms:created xsi:type="dcterms:W3CDTF">2026-07-02T01:59:37Z</dcterms:created>
  <dcterms:modified xsi:type="dcterms:W3CDTF">2026-07-02T01:59:37Z</dcterms:modified>
</cp:coreProperties>
</file>