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658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41248" y="2212848"/>
            <a:ext cx="118872" cy="118872"/>
          </a:xfrm>
          <a:prstGeom prst="ellipse">
            <a:avLst/>
          </a:prstGeom>
          <a:solidFill>
            <a:srgbClr val="FB5B5B"/>
          </a:solidFill>
          <a:ln/>
          <a:effectLst>
            <a:outerShdw sx="100000" sy="100000" kx="0" ky="0" algn="bl" rotWithShape="0" blurRad="101600" dist="50800" dir="8100000">
              <a:srgbClr val="FB5B5B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21031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FCB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실시간 AI 회의록 · 셀프호스트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5146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회의에 집중하세요.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기록은 </a:t>
            </a:r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B9B2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</a:t>
            </a:r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합니다.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22960" y="422452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8D5F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 음성을 실시간으로 받아쓰고, AI가 핵심 요약·결정사항·할 일까지 정리합니다.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8D5F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음성도 회의록도 우리 서버 안에만 머뭅니다.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257800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5422392"/>
            <a:ext cx="91440" cy="91440"/>
          </a:xfrm>
          <a:prstGeom prst="ellipse">
            <a:avLst/>
          </a:prstGeom>
          <a:solidFill>
            <a:srgbClr val="FB5B5B"/>
          </a:solidFill>
          <a:ln/>
        </p:spPr>
      </p:sp>
      <p:sp>
        <p:nvSpPr>
          <p:cNvPr id="11" name="Text 9"/>
          <p:cNvSpPr/>
          <p:nvPr/>
        </p:nvSpPr>
        <p:spPr>
          <a:xfrm>
            <a:off x="1133856" y="52578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실시간 전사·화자 구분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55264" y="52578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9856" y="5422392"/>
            <a:ext cx="91440" cy="91440"/>
          </a:xfrm>
          <a:prstGeom prst="ellipse">
            <a:avLst/>
          </a:prstGeom>
          <a:solidFill>
            <a:srgbClr val="B9B2FF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5257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9개 언어 인식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65776" y="52578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0368" y="5422392"/>
            <a:ext cx="91440" cy="91440"/>
          </a:xfrm>
          <a:prstGeom prst="ellipse">
            <a:avLst/>
          </a:prstGeom>
          <a:solidFill>
            <a:srgbClr val="6FE0BC"/>
          </a:solidFill>
          <a:ln/>
        </p:spPr>
      </p:sp>
      <p:sp>
        <p:nvSpPr>
          <p:cNvPr id="17" name="Text 15"/>
          <p:cNvSpPr/>
          <p:nvPr/>
        </p:nvSpPr>
        <p:spPr>
          <a:xfrm>
            <a:off x="5376672" y="5257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 코퍼스 로컬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76288" y="52578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5422392"/>
            <a:ext cx="91440" cy="91440"/>
          </a:xfrm>
          <a:prstGeom prst="ellipse">
            <a:avLst/>
          </a:prstGeom>
          <a:solidFill>
            <a:srgbClr val="F4C67A"/>
          </a:solidFill>
          <a:ln/>
        </p:spPr>
      </p:sp>
      <p:sp>
        <p:nvSpPr>
          <p:cNvPr id="20" name="Text 18"/>
          <p:cNvSpPr/>
          <p:nvPr/>
        </p:nvSpPr>
        <p:spPr>
          <a:xfrm>
            <a:off x="7187184" y="5257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데스크톱·모바일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98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 ●  00:00:00 — 회의 시작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10935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078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SELF-HOSTED · LOCAL-FIRST · 9 LANGUAGES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17220"/>
            <a:ext cx="100584" cy="100584"/>
          </a:xfrm>
          <a:prstGeom prst="ellipse">
            <a:avLst/>
          </a:prstGeom>
          <a:solidFill>
            <a:srgbClr val="FB5B5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제품 소개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8412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받아쓰기가 아니라, 읽기 좋은 회의록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또박또박은 회의 음성을 실시간으로 받아쓰고(STT), 화자를 자동으로 구분하며, AI가 구조화된 회의록을 자동 작성·검색·질의응답까지 해 주는 자체호스팅(셀프호스트) 팀 회의 어시스턴트입니다.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3429000"/>
            <a:ext cx="24505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3816" y="364845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EEE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376732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666744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 코퍼스 로컬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13816" y="417880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음성·전사·요약 전체가 팀 서버·내 기기에만. 외부 클라우드로 나가지 않습니다.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27832" y="3429000"/>
            <a:ext cx="24505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47288" y="364845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EEEF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767328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05072" y="3666744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 클릭 점프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447288" y="417880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요약·답변 문장마다 발화 시각·화자. 누르면 원본 오디오 그 순간으로.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4360" y="4983480"/>
            <a:ext cx="24505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" y="520293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EEEF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32180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5221224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교차 회의 Q&amp;A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13816" y="573328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회의를 넘어 폴더·프로젝트 전체에 의미검색으로 묻고 답합니다.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27832" y="4983480"/>
            <a:ext cx="24505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447288" y="520293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EEEF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5321808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005072" y="5221224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자산화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3447288" y="573328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개인 도구와 달리 프로젝트·폴더 단위로 공유·비공개하며 축적합니다.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172200" y="1600200"/>
            <a:ext cx="5394960" cy="3329254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228600" dist="76200" dir="8100000">
              <a:srgbClr val="231A5C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355080" y="1700784"/>
            <a:ext cx="109728" cy="109728"/>
          </a:xfrm>
          <a:prstGeom prst="ellipse">
            <a:avLst/>
          </a:prstGeom>
          <a:solidFill>
            <a:srgbClr val="FC8D86"/>
          </a:solidFill>
          <a:ln/>
        </p:spPr>
      </p:sp>
      <p:sp>
        <p:nvSpPr>
          <p:cNvPr id="28" name="Shape 22"/>
          <p:cNvSpPr/>
          <p:nvPr/>
        </p:nvSpPr>
        <p:spPr>
          <a:xfrm>
            <a:off x="6537960" y="1700784"/>
            <a:ext cx="109728" cy="109728"/>
          </a:xfrm>
          <a:prstGeom prst="ellipse">
            <a:avLst/>
          </a:prstGeom>
          <a:solidFill>
            <a:srgbClr val="F7C64F"/>
          </a:solidFill>
          <a:ln/>
        </p:spPr>
      </p:sp>
      <p:sp>
        <p:nvSpPr>
          <p:cNvPr id="29" name="Shape 23"/>
          <p:cNvSpPr/>
          <p:nvPr/>
        </p:nvSpPr>
        <p:spPr>
          <a:xfrm>
            <a:off x="6720840" y="1700784"/>
            <a:ext cx="109728" cy="109728"/>
          </a:xfrm>
          <a:prstGeom prst="ellipse">
            <a:avLst/>
          </a:prstGeom>
          <a:solidFill>
            <a:srgbClr val="62C878"/>
          </a:solidFill>
          <a:ln/>
        </p:spPr>
      </p:sp>
      <p:sp>
        <p:nvSpPr>
          <p:cNvPr id="30" name="Shape 24"/>
          <p:cNvSpPr/>
          <p:nvPr/>
        </p:nvSpPr>
        <p:spPr>
          <a:xfrm>
            <a:off x="7013448" y="1668780"/>
            <a:ext cx="4370832" cy="182880"/>
          </a:xfrm>
          <a:prstGeom prst="roundRect">
            <a:avLst>
              <a:gd name="adj" fmla="val 25000"/>
            </a:avLst>
          </a:prstGeom>
          <a:solidFill>
            <a:srgbClr val="FAFAFB"/>
          </a:solidFill>
          <a:ln w="12700">
            <a:solidFill>
              <a:srgbClr val="E8E7E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123176" y="16687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또박또박 — 회의 상세 · AI 회의록</a:t>
            </a:r>
            <a:endParaRPr lang="en-US" sz="750" dirty="0"/>
          </a:p>
        </p:txBody>
      </p:sp>
      <p:pic>
        <p:nvPicPr>
          <p:cNvPr id="32" name="Image 4" descr="/Users/jji/project/ddobakddobak/docs/landing/assets/05-meeting-deta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911096"/>
            <a:ext cx="5248656" cy="290863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6245352" y="1911096"/>
            <a:ext cx="5248656" cy="2908630"/>
          </a:xfrm>
          <a:prstGeom prst="rect">
            <a:avLst/>
          </a:prstGeom>
          <a:ln w="9525">
            <a:solidFill>
              <a:srgbClr val="E8E7EF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94360" y="6419088"/>
            <a:ext cx="11002975" cy="0"/>
          </a:xfrm>
          <a:prstGeom prst="line">
            <a:avLst/>
          </a:prstGeom>
          <a:noFill/>
          <a:ln w="12700">
            <a:solidFill>
              <a:srgbClr val="E8E7EF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</a:t>
            </a:r>
            <a:pPr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·  실시간 AI 회의록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976853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17220"/>
            <a:ext cx="100584" cy="100584"/>
          </a:xfrm>
          <a:prstGeom prst="ellipse">
            <a:avLst/>
          </a:prstGeom>
          <a:solidFill>
            <a:srgbClr val="FB5B5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동작 방식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8412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녹음 버튼 하나로, 회의록까지.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번의 녹음이 자막에서 구조화된 회의록으로, 그리고 검색 가능한 팀 자산으로 이어집니다.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3502152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331720"/>
            <a:ext cx="3502152" cy="82296"/>
          </a:xfrm>
          <a:prstGeom prst="rect">
            <a:avLst/>
          </a:prstGeom>
          <a:solidFill>
            <a:srgbClr val="FB5B5B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2642616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00:00 · 녹음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5256" y="3154680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EEEE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432" y="3325856"/>
            <a:ext cx="316017" cy="31601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05256" y="39776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말하면 자막이 됩니다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05256" y="4526280"/>
            <a:ext cx="2898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마이크와 시스템 오디오를 함께 받아 실시간으로 받아씁니다. 9개 언어를 인식합니다.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78224" y="32918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E2F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389120" y="2331720"/>
            <a:ext cx="3502152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89120" y="2331720"/>
            <a:ext cx="35021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4700016" y="2642616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진행 중 · AI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00016" y="3154680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EEEEF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192" y="3325856"/>
            <a:ext cx="316017" cy="31601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700016" y="39776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정리합니다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4700016" y="4526280"/>
            <a:ext cx="2898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 1분 주기로 핵심 요약·논의·결정·할 일을 구조화합니다. 회의 유형별 양식을 따릅니다.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872984" y="32918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E2F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8183880" y="2331720"/>
            <a:ext cx="3502152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183880" y="2331720"/>
            <a:ext cx="3502152" cy="82296"/>
          </a:xfrm>
          <a:prstGeom prst="rect">
            <a:avLst/>
          </a:prstGeom>
          <a:solidFill>
            <a:srgbClr val="0FA877"/>
          </a:solidFill>
          <a:ln/>
        </p:spPr>
      </p:sp>
      <p:sp>
        <p:nvSpPr>
          <p:cNvPr id="24" name="Text 20"/>
          <p:cNvSpPr/>
          <p:nvPr/>
        </p:nvSpPr>
        <p:spPr>
          <a:xfrm>
            <a:off x="8494776" y="2642616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A8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회의 후 · 활용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494776" y="3154680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EEEEFE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5952" y="3325856"/>
            <a:ext cx="316017" cy="31601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94776" y="39776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검색하고 공유합니다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8494776" y="4526280"/>
            <a:ext cx="2898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전사·요약을 전역에서 찾고, 회의에 직접 질문하고, 공유·내보내기로 팀과 나눕니다.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94360" y="6419088"/>
            <a:ext cx="11002975" cy="0"/>
          </a:xfrm>
          <a:prstGeom prst="line">
            <a:avLst/>
          </a:prstGeom>
          <a:noFill/>
          <a:ln w="12700">
            <a:solidFill>
              <a:srgbClr val="E8E7E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</a:t>
            </a:r>
            <a:pPr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·  실시간 AI 회의록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976853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17220"/>
            <a:ext cx="100584" cy="100584"/>
          </a:xfrm>
          <a:prstGeom prst="ellipse">
            <a:avLst/>
          </a:prstGeom>
          <a:solidFill>
            <a:srgbClr val="FB5B5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오늘 다룰 내용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8412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 실행부터 회의록 관리까지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3502152" cy="425196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2148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905256" y="3108960"/>
            <a:ext cx="457200" cy="45720"/>
          </a:xfrm>
          <a:prstGeom prst="rect">
            <a:avLst/>
          </a:prstGeom>
          <a:solidFill>
            <a:srgbClr val="FB5B5B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324612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회의록 실행 기능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05256" y="370332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회의를 진행하는 데 필요한 모든 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23544" y="4279392"/>
            <a:ext cx="64008" cy="64008"/>
          </a:xfrm>
          <a:prstGeom prst="rect">
            <a:avLst/>
          </a:prstGeom>
          <a:solidFill>
            <a:srgbClr val="FB5B5B"/>
          </a:solidFill>
          <a:ln/>
        </p:spPr>
      </p:sp>
      <p:sp>
        <p:nvSpPr>
          <p:cNvPr id="11" name="Text 9"/>
          <p:cNvSpPr/>
          <p:nvPr/>
        </p:nvSpPr>
        <p:spPr>
          <a:xfrm>
            <a:off x="1106424" y="4206240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실시간 녹음 &amp; 전사 (시스템 오디오·파일 업로드)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23544" y="4846320"/>
            <a:ext cx="64008" cy="64008"/>
          </a:xfrm>
          <a:prstGeom prst="rect">
            <a:avLst/>
          </a:prstGeom>
          <a:solidFill>
            <a:srgbClr val="FB5B5B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4773168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AI 회의록 + 요약 옵션(압축율 5단계)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23544" y="5413248"/>
            <a:ext cx="64008" cy="64008"/>
          </a:xfrm>
          <a:prstGeom prst="rect">
            <a:avLst/>
          </a:prstGeom>
          <a:solidFill>
            <a:srgbClr val="FB5B5B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" y="5340096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 완료 후 화자 구분 &amp; 화자 지정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1874520"/>
            <a:ext cx="3502152" cy="425196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81728" y="2148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4700016" y="3108960"/>
            <a:ext cx="45720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4681728" y="324612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회의록 관리 기능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700016" y="370332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쌓인 회의를 팀 자산으로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18304" y="4279392"/>
            <a:ext cx="64008" cy="64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4901184" y="4206240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프로젝트·폴더·태그 관리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18304" y="4846320"/>
            <a:ext cx="64008" cy="64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4901184" y="4773168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회의록 미리보기 · 내보내기/가져오기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18304" y="5413248"/>
            <a:ext cx="64008" cy="64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4901184" y="5340096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챗 — 회의·폴더·프로젝트 교차 질의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83880" y="1874520"/>
            <a:ext cx="3502152" cy="425196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76488" y="2148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0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4000" dirty="0"/>
          </a:p>
        </p:txBody>
      </p:sp>
      <p:sp>
        <p:nvSpPr>
          <p:cNvPr id="29" name="Shape 27"/>
          <p:cNvSpPr/>
          <p:nvPr/>
        </p:nvSpPr>
        <p:spPr>
          <a:xfrm>
            <a:off x="8494776" y="3108960"/>
            <a:ext cx="457200" cy="45720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30" name="Text 28"/>
          <p:cNvSpPr/>
          <p:nvPr/>
        </p:nvSpPr>
        <p:spPr>
          <a:xfrm>
            <a:off x="8476488" y="324612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그외 기능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494776" y="370332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 전·중·후를 빈틈없이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513064" y="4279392"/>
            <a:ext cx="64008" cy="64008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33" name="Text 31"/>
          <p:cNvSpPr/>
          <p:nvPr/>
        </p:nvSpPr>
        <p:spPr>
          <a:xfrm>
            <a:off x="8695944" y="4206240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· 공유/권한 · 예약/자동화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513064" y="4846320"/>
            <a:ext cx="64008" cy="64008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35" name="Text 33"/>
          <p:cNvSpPr/>
          <p:nvPr/>
        </p:nvSpPr>
        <p:spPr>
          <a:xfrm>
            <a:off x="8695944" y="4773168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설정/모델 · 데스크톱/모바일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513064" y="5413248"/>
            <a:ext cx="64008" cy="64008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37" name="Text 35"/>
          <p:cNvSpPr/>
          <p:nvPr/>
        </p:nvSpPr>
        <p:spPr>
          <a:xfrm>
            <a:off x="8695944" y="5340096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대시보드 · 북마크 · 휴지통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94360" y="6419088"/>
            <a:ext cx="11002975" cy="0"/>
          </a:xfrm>
          <a:prstGeom prst="line">
            <a:avLst/>
          </a:prstGeom>
          <a:noFill/>
          <a:ln w="12700">
            <a:solidFill>
              <a:srgbClr val="E8E7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</a:t>
            </a:r>
            <a:pPr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·  실시간 AI 회의록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76853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F98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01 / 03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2148840"/>
            <a:ext cx="1051560" cy="1051560"/>
          </a:xfrm>
          <a:prstGeom prst="roundRect">
            <a:avLst>
              <a:gd name="adj" fmla="val 2608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23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" y="3538728"/>
            <a:ext cx="109728" cy="109728"/>
          </a:xfrm>
          <a:prstGeom prst="ellipse">
            <a:avLst/>
          </a:prstGeom>
          <a:solidFill>
            <a:srgbClr val="FB5B5B"/>
          </a:solidFill>
          <a:ln/>
        </p:spPr>
      </p:sp>
      <p:sp>
        <p:nvSpPr>
          <p:cNvPr id="6" name="Text 3"/>
          <p:cNvSpPr/>
          <p:nvPr/>
        </p:nvSpPr>
        <p:spPr>
          <a:xfrm>
            <a:off x="1042416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9C3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회의를 진행하는 데 필요한 모든 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" y="3749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회의록 실행 기능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4892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8D5F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녹음 · 자동 요약 · 화자 구분 — 말하는 순간부터 완성된 회의록까지.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17220"/>
            <a:ext cx="100584" cy="100584"/>
          </a:xfrm>
          <a:prstGeom prst="ellipse">
            <a:avLst/>
          </a:prstGeom>
          <a:solidFill>
            <a:srgbClr val="FB5B5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실행 · 녹음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8412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말하는 동안 회의록이 채워집니다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" y="1924812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905256" y="1828800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실시간 음성 인식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말하면 즉시 왼쪽 자막으로. VAD 무음 스킵·저지연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58775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" y="2638044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2542032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녹음 제어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시작·일시정지·재개·종료, 경과 시간 표시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" y="3351276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" y="3255264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시스템 오디오 캡처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화상회의 상대 목소리까지 함께 녹음 (데스크톱)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01421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" y="4064508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" y="3968496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오디오 파일 업로드(배치)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녹음해 둔 파일로도 동일 회의록, 진행률·잔여시간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72744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" y="4777740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" y="4681728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9개 언어 인식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한·영·일·중·스페인·프랑스·독일·태국·베트남어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394960" cy="3329254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228600" dist="76200" dir="8100000">
              <a:srgbClr val="231A5C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700784"/>
            <a:ext cx="109728" cy="109728"/>
          </a:xfrm>
          <a:prstGeom prst="ellipse">
            <a:avLst/>
          </a:prstGeom>
          <a:solidFill>
            <a:srgbClr val="FC8D86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1700784"/>
            <a:ext cx="109728" cy="109728"/>
          </a:xfrm>
          <a:prstGeom prst="ellipse">
            <a:avLst/>
          </a:prstGeom>
          <a:solidFill>
            <a:srgbClr val="F7C64F"/>
          </a:solidFill>
          <a:ln/>
        </p:spPr>
      </p:sp>
      <p:sp>
        <p:nvSpPr>
          <p:cNvPr id="23" name="Shape 21"/>
          <p:cNvSpPr/>
          <p:nvPr/>
        </p:nvSpPr>
        <p:spPr>
          <a:xfrm>
            <a:off x="6720840" y="1700784"/>
            <a:ext cx="109728" cy="109728"/>
          </a:xfrm>
          <a:prstGeom prst="ellipse">
            <a:avLst/>
          </a:prstGeom>
          <a:solidFill>
            <a:srgbClr val="62C878"/>
          </a:solidFill>
          <a:ln/>
        </p:spPr>
      </p:sp>
      <p:sp>
        <p:nvSpPr>
          <p:cNvPr id="24" name="Shape 22"/>
          <p:cNvSpPr/>
          <p:nvPr/>
        </p:nvSpPr>
        <p:spPr>
          <a:xfrm>
            <a:off x="7013448" y="1668780"/>
            <a:ext cx="4370832" cy="182880"/>
          </a:xfrm>
          <a:prstGeom prst="roundRect">
            <a:avLst>
              <a:gd name="adj" fmla="val 25000"/>
            </a:avLst>
          </a:prstGeom>
          <a:solidFill>
            <a:srgbClr val="FAFAFB"/>
          </a:solidFill>
          <a:ln w="12700">
            <a:solidFill>
              <a:srgbClr val="E8E7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23176" y="16687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또박또박 — 라이브 녹음</a:t>
            </a:r>
            <a:endParaRPr lang="en-US" sz="750" dirty="0"/>
          </a:p>
        </p:txBody>
      </p:sp>
      <p:pic>
        <p:nvPicPr>
          <p:cNvPr id="26" name="Image 0" descr="/Users/jji/project/ddobakddobak/docs/landing/assets/08-meeting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911096"/>
            <a:ext cx="5248656" cy="290863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6245352" y="1911096"/>
            <a:ext cx="5248656" cy="2908630"/>
          </a:xfrm>
          <a:prstGeom prst="rect">
            <a:avLst/>
          </a:prstGeom>
          <a:ln w="9525">
            <a:solidFill>
              <a:srgbClr val="E8E7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4360" y="5532120"/>
            <a:ext cx="4297680" cy="457200"/>
          </a:xfrm>
          <a:prstGeom prst="roundRect">
            <a:avLst>
              <a:gd name="adj" fmla="val 20000"/>
            </a:avLst>
          </a:prstGeom>
          <a:solidFill>
            <a:srgbClr val="EEEEFE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5532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3단  </a:t>
            </a:r>
            <a:pPr indent="0" marL="0">
              <a:buNone/>
            </a:pPr>
            <a:r>
              <a:rPr lang="en-US" sz="11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실시간 자막 · AI 회의록 · 메모/AI 챗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94360" y="6419088"/>
            <a:ext cx="11002975" cy="0"/>
          </a:xfrm>
          <a:prstGeom prst="line">
            <a:avLst/>
          </a:prstGeom>
          <a:noFill/>
          <a:ln w="12700">
            <a:solidFill>
              <a:srgbClr val="E8E7E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</a:t>
            </a:r>
            <a:pPr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·  실시간 AI 회의록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76853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17220"/>
            <a:ext cx="100584" cy="100584"/>
          </a:xfrm>
          <a:prstGeom prst="ellipse">
            <a:avLst/>
          </a:prstGeom>
          <a:solidFill>
            <a:srgbClr val="FB5B5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실행 · 자동 요약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8412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회의록을 구조화합니다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" y="1924812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905256" y="1828800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실시간 자동 생성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녹음 중 약 1분 주기로 회의록 점진 갱신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58775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" y="2638044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2542032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핵심·논의·결정·할 일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구조화. 담당·기한까지 추출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" y="3351276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" y="3255264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 유형별 맞춤 양식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스탠드업·인터뷰·리뷰 등 10여 종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01421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" y="4064508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" y="3968496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Mermaid 다이어그램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자동 생성 · 블록 에디터로 직접 편집·자동 저장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72744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" y="4777740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" y="4681728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발화 근거 인용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문장 끝 시각·화자, 클릭 시 원본 오디오로 점프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394960" cy="3329254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228600" dist="76200" dir="8100000">
              <a:srgbClr val="231A5C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700784"/>
            <a:ext cx="109728" cy="109728"/>
          </a:xfrm>
          <a:prstGeom prst="ellipse">
            <a:avLst/>
          </a:prstGeom>
          <a:solidFill>
            <a:srgbClr val="FC8D86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1700784"/>
            <a:ext cx="109728" cy="109728"/>
          </a:xfrm>
          <a:prstGeom prst="ellipse">
            <a:avLst/>
          </a:prstGeom>
          <a:solidFill>
            <a:srgbClr val="F7C64F"/>
          </a:solidFill>
          <a:ln/>
        </p:spPr>
      </p:sp>
      <p:sp>
        <p:nvSpPr>
          <p:cNvPr id="23" name="Shape 21"/>
          <p:cNvSpPr/>
          <p:nvPr/>
        </p:nvSpPr>
        <p:spPr>
          <a:xfrm>
            <a:off x="6720840" y="1700784"/>
            <a:ext cx="109728" cy="109728"/>
          </a:xfrm>
          <a:prstGeom prst="ellipse">
            <a:avLst/>
          </a:prstGeom>
          <a:solidFill>
            <a:srgbClr val="62C878"/>
          </a:solidFill>
          <a:ln/>
        </p:spPr>
      </p:sp>
      <p:sp>
        <p:nvSpPr>
          <p:cNvPr id="24" name="Shape 22"/>
          <p:cNvSpPr/>
          <p:nvPr/>
        </p:nvSpPr>
        <p:spPr>
          <a:xfrm>
            <a:off x="7013448" y="1668780"/>
            <a:ext cx="4370832" cy="182880"/>
          </a:xfrm>
          <a:prstGeom prst="roundRect">
            <a:avLst>
              <a:gd name="adj" fmla="val 25000"/>
            </a:avLst>
          </a:prstGeom>
          <a:solidFill>
            <a:srgbClr val="FAFAFB"/>
          </a:solidFill>
          <a:ln w="12700">
            <a:solidFill>
              <a:srgbClr val="E8E7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23176" y="16687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또박또박 — AI 회의록 · 인용 점프</a:t>
            </a:r>
            <a:endParaRPr lang="en-US" sz="750" dirty="0"/>
          </a:p>
        </p:txBody>
      </p:sp>
      <p:pic>
        <p:nvPicPr>
          <p:cNvPr id="26" name="Image 0" descr="/Users/jji/project/ddobakddobak/docs/landing/assets/05-meeting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911096"/>
            <a:ext cx="5248656" cy="290863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6245352" y="1911096"/>
            <a:ext cx="5248656" cy="2908630"/>
          </a:xfrm>
          <a:prstGeom prst="rect">
            <a:avLst/>
          </a:prstGeom>
          <a:ln w="9525">
            <a:solidFill>
              <a:srgbClr val="E8E7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4360" y="5532120"/>
            <a:ext cx="4892040" cy="457200"/>
          </a:xfrm>
          <a:prstGeom prst="roundRect">
            <a:avLst>
              <a:gd name="adj" fmla="val 20000"/>
            </a:avLst>
          </a:prstGeom>
          <a:solidFill>
            <a:srgbClr val="E7F7F0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5532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A8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환각 걱정 없이  </a:t>
            </a:r>
            <a:pPr indent="0" marL="0">
              <a:buNone/>
            </a:pPr>
            <a:r>
              <a:rPr lang="en-US" sz="11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요약 문장을 원문 오디오로 검증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94360" y="6419088"/>
            <a:ext cx="11002975" cy="0"/>
          </a:xfrm>
          <a:prstGeom prst="line">
            <a:avLst/>
          </a:prstGeom>
          <a:noFill/>
          <a:ln w="12700">
            <a:solidFill>
              <a:srgbClr val="E8E7E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</a:t>
            </a:r>
            <a:pPr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·  실시간 AI 회의록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76853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17220"/>
            <a:ext cx="100584" cy="100584"/>
          </a:xfrm>
          <a:prstGeom prst="ellipse">
            <a:avLst/>
          </a:prstGeom>
          <a:solidFill>
            <a:srgbClr val="FB5B5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실행 · 요약 옵션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8412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회의록 분량과 방식을 내 마음대로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압축율 5단계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194560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194560"/>
            <a:ext cx="73152" cy="512064"/>
          </a:xfrm>
          <a:prstGeom prst="rect">
            <a:avLst/>
          </a:prstGeom>
          <a:solidFill>
            <a:srgbClr val="9F98E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98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19456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아주 간결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31720" y="219456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결정·할 일만, 항목당 한 문장 (가장 빠름)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816352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816352"/>
            <a:ext cx="73152" cy="512064"/>
          </a:xfrm>
          <a:prstGeom prst="rect">
            <a:avLst/>
          </a:prstGeom>
          <a:solidFill>
            <a:srgbClr val="8079E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16352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079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81635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간결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2816352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항목당 한 문장, 표 최소화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438144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438144"/>
            <a:ext cx="73152" cy="5120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38144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343814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31720" y="3438144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분량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4059936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059936"/>
            <a:ext cx="73152" cy="512064"/>
          </a:xfrm>
          <a:prstGeom prst="rect">
            <a:avLst/>
          </a:prstGeom>
          <a:solidFill>
            <a:srgbClr val="4035C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059936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5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40599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31720" y="4059936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맥락·근거를 충실히, 표 적극 활용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4681728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681728"/>
            <a:ext cx="73152" cy="512064"/>
          </a:xfrm>
          <a:prstGeom prst="rect">
            <a:avLst/>
          </a:prstGeom>
          <a:solidFill>
            <a:srgbClr val="2A238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681728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3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3000" y="468172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아주 상세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331720" y="468172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발언 흐름·반론까지 전부 (가장 느림)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쌓는 방식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63640" y="2194560"/>
            <a:ext cx="5257800" cy="914400"/>
          </a:xfrm>
          <a:prstGeom prst="roundRect">
            <a:avLst>
              <a:gd name="adj" fmla="val 10000"/>
            </a:avLst>
          </a:prstGeom>
          <a:solidFill>
            <a:srgbClr val="EEEEFE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2340864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재구조화 (기본)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537960" y="265176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요약할 때마다 전체를 다시 정리. 항상 깔끔한 정본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63640" y="3246120"/>
            <a:ext cx="5257800" cy="914400"/>
          </a:xfrm>
          <a:prstGeom prst="roundRect">
            <a:avLst>
              <a:gd name="adj" fmla="val 10000"/>
            </a:avLst>
          </a:prstGeom>
          <a:solidFill>
            <a:srgbClr val="E7F7F0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3392424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8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증분 (시간 흐름)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537960" y="370332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새로 진행된 구간만 시간대 블록으로 뒤에 덧붙임. 더 빠름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63640" y="448056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537960" y="4736592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EEEFE"/>
          </a:solidFill>
          <a:ln/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0606" y="4879238"/>
            <a:ext cx="263347" cy="263347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7223760" y="473659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실시간 적용 주기</a:t>
            </a:r>
            <a:endParaRPr lang="en-US" sz="1450" dirty="0"/>
          </a:p>
        </p:txBody>
      </p:sp>
      <p:sp>
        <p:nvSpPr>
          <p:cNvPr id="42" name="Text 39"/>
          <p:cNvSpPr/>
          <p:nvPr/>
        </p:nvSpPr>
        <p:spPr>
          <a:xfrm>
            <a:off x="6537960" y="539496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녹음 중 회의록을 얼마나 자주 갱신할지 선택(예: 1분·3분).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「지금 요약」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으로 다음 주기를 기다리지 않고 즉시 한 번 갱신.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94360" y="6419088"/>
            <a:ext cx="11002975" cy="0"/>
          </a:xfrm>
          <a:prstGeom prst="line">
            <a:avLst/>
          </a:prstGeom>
          <a:noFill/>
          <a:ln w="12700">
            <a:solidFill>
              <a:srgbClr val="E8E7E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</a:t>
            </a:r>
            <a:pPr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·  실시간 AI 회의록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976853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17220"/>
            <a:ext cx="100584" cy="100584"/>
          </a:xfrm>
          <a:prstGeom prst="ellipse">
            <a:avLst/>
          </a:prstGeom>
          <a:solidFill>
            <a:srgbClr val="FB5B5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실행 · 화자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8412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 말했는지, 회의 후 자동으로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5166360" cy="841248"/>
          </a:xfrm>
          <a:prstGeom prst="roundRect">
            <a:avLst>
              <a:gd name="adj" fmla="val 10870"/>
            </a:avLst>
          </a:prstGeom>
          <a:solidFill>
            <a:srgbClr val="FDECEC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691640"/>
            <a:ext cx="73152" cy="841248"/>
          </a:xfrm>
          <a:prstGeom prst="rect">
            <a:avLst/>
          </a:prstGeom>
          <a:solidFill>
            <a:srgbClr val="FB5B5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b="1" dirty="0">
                <a:solidFill>
                  <a:srgbClr val="B238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화자 분리는 오디오 전체를 한 번에 분석</a:t>
            </a:r>
            <a:endParaRPr lang="en-US" sz="11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실시간 중이 아니라 녹음을 마친 뒤(파일 업로드·STT 재생성 시점) 적용됩니다.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594360" y="278892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" y="2839212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2743200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화자 분리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발화자를 자동 구분, 회의별 화자로 동일 인물 인식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52044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" y="3570732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" y="3474720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화자 이름 지정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목록 클릭·전사 칩 더블클릭 → 전사·검색·회의록 전반 반영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2519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" y="4302252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" y="4206240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화자 배지 점프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배지 클릭 시 그 화자의 다음 발화로 이동+자동 재생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98348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" y="5033772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" y="4937760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화자분리만 재실행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전사는 그대로, 화자만 다시 (보통 1~2분)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394960" cy="3329254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228600" dist="76200" dir="8100000">
              <a:srgbClr val="231A5C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700784"/>
            <a:ext cx="109728" cy="109728"/>
          </a:xfrm>
          <a:prstGeom prst="ellipse">
            <a:avLst/>
          </a:prstGeom>
          <a:solidFill>
            <a:srgbClr val="FC8D86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1700784"/>
            <a:ext cx="109728" cy="109728"/>
          </a:xfrm>
          <a:prstGeom prst="ellipse">
            <a:avLst/>
          </a:prstGeom>
          <a:solidFill>
            <a:srgbClr val="F7C64F"/>
          </a:solidFill>
          <a:ln/>
        </p:spPr>
      </p:sp>
      <p:sp>
        <p:nvSpPr>
          <p:cNvPr id="23" name="Shape 21"/>
          <p:cNvSpPr/>
          <p:nvPr/>
        </p:nvSpPr>
        <p:spPr>
          <a:xfrm>
            <a:off x="6720840" y="1700784"/>
            <a:ext cx="109728" cy="109728"/>
          </a:xfrm>
          <a:prstGeom prst="ellipse">
            <a:avLst/>
          </a:prstGeom>
          <a:solidFill>
            <a:srgbClr val="62C878"/>
          </a:solidFill>
          <a:ln/>
        </p:spPr>
      </p:sp>
      <p:sp>
        <p:nvSpPr>
          <p:cNvPr id="24" name="Shape 22"/>
          <p:cNvSpPr/>
          <p:nvPr/>
        </p:nvSpPr>
        <p:spPr>
          <a:xfrm>
            <a:off x="7013448" y="1668780"/>
            <a:ext cx="4370832" cy="182880"/>
          </a:xfrm>
          <a:prstGeom prst="roundRect">
            <a:avLst>
              <a:gd name="adj" fmla="val 25000"/>
            </a:avLst>
          </a:prstGeom>
          <a:solidFill>
            <a:srgbClr val="FAFAFB"/>
          </a:solidFill>
          <a:ln w="12700">
            <a:solidFill>
              <a:srgbClr val="E8E7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23176" y="16687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또박또박 — 화자 목록 · 이름 지정</a:t>
            </a:r>
            <a:endParaRPr lang="en-US" sz="750" dirty="0"/>
          </a:p>
        </p:txBody>
      </p:sp>
      <p:pic>
        <p:nvPicPr>
          <p:cNvPr id="26" name="Image 0" descr="/Users/jji/project/ddobakddobak/docs/landing/assets/07-meeting-recor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911096"/>
            <a:ext cx="5248656" cy="290863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6245352" y="1911096"/>
            <a:ext cx="5248656" cy="2908630"/>
          </a:xfrm>
          <a:prstGeom prst="rect">
            <a:avLst/>
          </a:prstGeom>
          <a:ln w="9525">
            <a:solidFill>
              <a:srgbClr val="E8E7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4360" y="6419088"/>
            <a:ext cx="11002975" cy="0"/>
          </a:xfrm>
          <a:prstGeom prst="line">
            <a:avLst/>
          </a:prstGeom>
          <a:noFill/>
          <a:ln w="12700">
            <a:solidFill>
              <a:srgbClr val="E8E7E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</a:t>
            </a:r>
            <a:pPr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·  실시간 AI 회의록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76853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F98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02 / 03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2148840"/>
            <a:ext cx="1051560" cy="1051560"/>
          </a:xfrm>
          <a:prstGeom prst="roundRect">
            <a:avLst>
              <a:gd name="adj" fmla="val 2608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23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" y="3538728"/>
            <a:ext cx="109728" cy="109728"/>
          </a:xfrm>
          <a:prstGeom prst="ellipse">
            <a:avLst/>
          </a:prstGeom>
          <a:solidFill>
            <a:srgbClr val="FB5B5B"/>
          </a:solidFill>
          <a:ln/>
        </p:spPr>
      </p:sp>
      <p:sp>
        <p:nvSpPr>
          <p:cNvPr id="6" name="Text 3"/>
          <p:cNvSpPr/>
          <p:nvPr/>
        </p:nvSpPr>
        <p:spPr>
          <a:xfrm>
            <a:off x="1042416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9C3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쌓인 회의를 검색 가능한 팀 자산으로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" y="3749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회의록 관리 기능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4892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8D5F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프로젝트 · 미리보기 · 내보내기/가져오기 · AI 챗 — 회의가 쌓일수록 강해집니다.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17220"/>
            <a:ext cx="100584" cy="10058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관리 · 프로젝트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8412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프로젝트 → 폴더 → 회의 3단 정리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" y="1924812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905256" y="1828800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개인 · 팀 프로젝트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가입 시 '내 회의' 자동 생성, 팀 프로젝트로 공유 축적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58775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" y="2638044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2542032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폴더 트리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생성·이름변경·드래그 이동·공개/비공개·하위 폴더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" y="3351276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" y="3255264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중요 표시(★)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자주 보는 폴더 강조, 폴더 → 회의로 상속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01421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" y="4064508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" y="3968496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태그 분류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한 회의에 여러 색 배지, 프로젝트 범위로 관리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72744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" y="4777740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" y="4681728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경로 브레드크럼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프로젝트 › 폴더 경로로 위치를 한눈에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394960" cy="3329254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228600" dist="76200" dir="8100000">
              <a:srgbClr val="231A5C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700784"/>
            <a:ext cx="109728" cy="109728"/>
          </a:xfrm>
          <a:prstGeom prst="ellipse">
            <a:avLst/>
          </a:prstGeom>
          <a:solidFill>
            <a:srgbClr val="FC8D86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1700784"/>
            <a:ext cx="109728" cy="109728"/>
          </a:xfrm>
          <a:prstGeom prst="ellipse">
            <a:avLst/>
          </a:prstGeom>
          <a:solidFill>
            <a:srgbClr val="F7C64F"/>
          </a:solidFill>
          <a:ln/>
        </p:spPr>
      </p:sp>
      <p:sp>
        <p:nvSpPr>
          <p:cNvPr id="23" name="Shape 21"/>
          <p:cNvSpPr/>
          <p:nvPr/>
        </p:nvSpPr>
        <p:spPr>
          <a:xfrm>
            <a:off x="6720840" y="1700784"/>
            <a:ext cx="109728" cy="109728"/>
          </a:xfrm>
          <a:prstGeom prst="ellipse">
            <a:avLst/>
          </a:prstGeom>
          <a:solidFill>
            <a:srgbClr val="62C878"/>
          </a:solidFill>
          <a:ln/>
        </p:spPr>
      </p:sp>
      <p:sp>
        <p:nvSpPr>
          <p:cNvPr id="24" name="Shape 22"/>
          <p:cNvSpPr/>
          <p:nvPr/>
        </p:nvSpPr>
        <p:spPr>
          <a:xfrm>
            <a:off x="7013448" y="1668780"/>
            <a:ext cx="4370832" cy="182880"/>
          </a:xfrm>
          <a:prstGeom prst="roundRect">
            <a:avLst>
              <a:gd name="adj" fmla="val 25000"/>
            </a:avLst>
          </a:prstGeom>
          <a:solidFill>
            <a:srgbClr val="FAFAFB"/>
          </a:solidFill>
          <a:ln w="12700">
            <a:solidFill>
              <a:srgbClr val="E8E7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23176" y="16687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또박또박 — 회의 목록 · 폴더 탐색</a:t>
            </a:r>
            <a:endParaRPr lang="en-US" sz="750" dirty="0"/>
          </a:p>
        </p:txBody>
      </p:sp>
      <p:pic>
        <p:nvPicPr>
          <p:cNvPr id="26" name="Image 0" descr="/Users/jji/project/ddobakddobak/docs/landing/assets/04-meetings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911096"/>
            <a:ext cx="5248656" cy="290863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6245352" y="1911096"/>
            <a:ext cx="5248656" cy="2908630"/>
          </a:xfrm>
          <a:prstGeom prst="rect">
            <a:avLst/>
          </a:prstGeom>
          <a:ln w="9525">
            <a:solidFill>
              <a:srgbClr val="E8E7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4360" y="6419088"/>
            <a:ext cx="11002975" cy="0"/>
          </a:xfrm>
          <a:prstGeom prst="line">
            <a:avLst/>
          </a:prstGeom>
          <a:noFill/>
          <a:ln w="12700">
            <a:solidFill>
              <a:srgbClr val="E8E7E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</a:t>
            </a:r>
            <a:pPr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·  실시간 AI 회의록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76853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17220"/>
            <a:ext cx="100584" cy="10058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관리 · 미리보기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8412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열어 보기 전에, 내용을 미리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" y="1924812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905256" y="1828800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카드 / 리스트 뷰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정렬·필터·페이지네이션으로 브라우징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58775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" y="2638044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2542032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줄 요약(brief)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목록·검색결과에서 회의 내용을 한 줄 미리보기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" y="3351276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" y="3255264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하이라이트 스니펫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검색어가 강조된 미리보기 문장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01421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" y="4064508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" y="3968496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회의록 전체보기 팝업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넓게 펼쳐 읽기. 데스크톱 이동·리사이즈(위치·크기 기억), 모바일 전체화면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72744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" y="4777740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" y="4681728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대시보드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상태별 건수·최근 회의를 한 화면에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394960" cy="3329254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228600" dist="76200" dir="8100000">
              <a:srgbClr val="231A5C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700784"/>
            <a:ext cx="109728" cy="109728"/>
          </a:xfrm>
          <a:prstGeom prst="ellipse">
            <a:avLst/>
          </a:prstGeom>
          <a:solidFill>
            <a:srgbClr val="FC8D86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1700784"/>
            <a:ext cx="109728" cy="109728"/>
          </a:xfrm>
          <a:prstGeom prst="ellipse">
            <a:avLst/>
          </a:prstGeom>
          <a:solidFill>
            <a:srgbClr val="F7C64F"/>
          </a:solidFill>
          <a:ln/>
        </p:spPr>
      </p:sp>
      <p:sp>
        <p:nvSpPr>
          <p:cNvPr id="23" name="Shape 21"/>
          <p:cNvSpPr/>
          <p:nvPr/>
        </p:nvSpPr>
        <p:spPr>
          <a:xfrm>
            <a:off x="6720840" y="1700784"/>
            <a:ext cx="109728" cy="109728"/>
          </a:xfrm>
          <a:prstGeom prst="ellipse">
            <a:avLst/>
          </a:prstGeom>
          <a:solidFill>
            <a:srgbClr val="62C878"/>
          </a:solidFill>
          <a:ln/>
        </p:spPr>
      </p:sp>
      <p:sp>
        <p:nvSpPr>
          <p:cNvPr id="24" name="Shape 22"/>
          <p:cNvSpPr/>
          <p:nvPr/>
        </p:nvSpPr>
        <p:spPr>
          <a:xfrm>
            <a:off x="7013448" y="1668780"/>
            <a:ext cx="4370832" cy="182880"/>
          </a:xfrm>
          <a:prstGeom prst="roundRect">
            <a:avLst>
              <a:gd name="adj" fmla="val 25000"/>
            </a:avLst>
          </a:prstGeom>
          <a:solidFill>
            <a:srgbClr val="FAFAFB"/>
          </a:solidFill>
          <a:ln w="12700">
            <a:solidFill>
              <a:srgbClr val="E8E7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23176" y="16687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또박또박 — 대시보드 · 회의 한눈에</a:t>
            </a:r>
            <a:endParaRPr lang="en-US" sz="750" dirty="0"/>
          </a:p>
        </p:txBody>
      </p:sp>
      <p:pic>
        <p:nvPicPr>
          <p:cNvPr id="26" name="Image 0" descr="/Users/jji/project/ddobakddobak/docs/landing/assets/03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911096"/>
            <a:ext cx="5248656" cy="290863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6245352" y="1911096"/>
            <a:ext cx="5248656" cy="2908630"/>
          </a:xfrm>
          <a:prstGeom prst="rect">
            <a:avLst/>
          </a:prstGeom>
          <a:ln w="9525">
            <a:solidFill>
              <a:srgbClr val="E8E7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4360" y="6419088"/>
            <a:ext cx="11002975" cy="0"/>
          </a:xfrm>
          <a:prstGeom prst="line">
            <a:avLst/>
          </a:prstGeom>
          <a:noFill/>
          <a:ln w="12700">
            <a:solidFill>
              <a:srgbClr val="E8E7E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</a:t>
            </a:r>
            <a:pPr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·  실시간 AI 회의록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76853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17220"/>
            <a:ext cx="100584" cy="10058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관리 · 이관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8412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문서로 내보내고, 통째로 백업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5256" y="2139696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EEE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657" y="2287097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139696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회의록 문서 내보내기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05256" y="2926080"/>
            <a:ext cx="713232" cy="384048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10" name="Text 7"/>
          <p:cNvSpPr/>
          <p:nvPr/>
        </p:nvSpPr>
        <p:spPr>
          <a:xfrm>
            <a:off x="905256" y="292608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64792" y="2926080"/>
            <a:ext cx="868680" cy="384048"/>
          </a:xfrm>
          <a:prstGeom prst="roundRect">
            <a:avLst>
              <a:gd name="adj" fmla="val 21429"/>
            </a:avLst>
          </a:prstGeom>
          <a:solidFill>
            <a:srgbClr val="FB5B5B"/>
          </a:solidFill>
          <a:ln/>
        </p:spPr>
      </p:sp>
      <p:sp>
        <p:nvSpPr>
          <p:cNvPr id="12" name="Text 9"/>
          <p:cNvSpPr/>
          <p:nvPr/>
        </p:nvSpPr>
        <p:spPr>
          <a:xfrm>
            <a:off x="1764792" y="29260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PDF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79776" y="2926080"/>
            <a:ext cx="1024128" cy="384048"/>
          </a:xfrm>
          <a:prstGeom prst="roundRect">
            <a:avLst>
              <a:gd name="adj" fmla="val 21429"/>
            </a:avLst>
          </a:prstGeom>
          <a:solidFill>
            <a:srgbClr val="2B7FD4"/>
          </a:solidFill>
          <a:ln/>
        </p:spPr>
      </p:sp>
      <p:sp>
        <p:nvSpPr>
          <p:cNvPr id="14" name="Text 11"/>
          <p:cNvSpPr/>
          <p:nvPr/>
        </p:nvSpPr>
        <p:spPr>
          <a:xfrm>
            <a:off x="2779776" y="29260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DOCX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50208" y="2926080"/>
            <a:ext cx="1024128" cy="384048"/>
          </a:xfrm>
          <a:prstGeom prst="roundRect">
            <a:avLst>
              <a:gd name="adj" fmla="val 21429"/>
            </a:avLst>
          </a:prstGeom>
          <a:solidFill>
            <a:srgbClr val="0FA877"/>
          </a:solidFill>
          <a:ln/>
        </p:spPr>
      </p:sp>
      <p:sp>
        <p:nvSpPr>
          <p:cNvPr id="16" name="Text 13"/>
          <p:cNvSpPr/>
          <p:nvPr/>
        </p:nvSpPr>
        <p:spPr>
          <a:xfrm>
            <a:off x="3950208" y="29260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프롬프트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05256" y="365760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5548" y="3707892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6"/>
          <p:cNvSpPr/>
          <p:nvPr/>
        </p:nvSpPr>
        <p:spPr>
          <a:xfrm>
            <a:off x="1216152" y="3611880"/>
            <a:ext cx="4489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포함 선택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AI 요약 · 메모 · 원본 전사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05256" y="431596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5548" y="4366260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19"/>
          <p:cNvSpPr/>
          <p:nvPr/>
        </p:nvSpPr>
        <p:spPr>
          <a:xfrm>
            <a:off x="1216152" y="4270248"/>
            <a:ext cx="4489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인용 마커 제거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할 일 체크박스화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05256" y="497433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55548" y="5024628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2"/>
          <p:cNvSpPr/>
          <p:nvPr/>
        </p:nvSpPr>
        <p:spPr>
          <a:xfrm>
            <a:off x="1216152" y="4928616"/>
            <a:ext cx="4489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LLM 프롬프트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ChatGPT·Claude에 붙여넣어 재작성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574536" y="2139696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EEEFE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937" y="2287097"/>
            <a:ext cx="272125" cy="272125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269480" y="2139696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아카이브 내보내기 / 가져오기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6574536" y="2926080"/>
            <a:ext cx="4636008" cy="621792"/>
          </a:xfrm>
          <a:prstGeom prst="roundRect">
            <a:avLst>
              <a:gd name="adj" fmla="val 11765"/>
            </a:avLst>
          </a:prstGeom>
          <a:solidFill>
            <a:srgbClr val="FAFAFB"/>
          </a:solidFill>
          <a:ln w="12700">
            <a:solidFill>
              <a:srgbClr val="E8E7E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720840" y="292608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3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 1건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8412480" y="2926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.ddobak-meeting.tgz — 오디오·첨부 포함 선택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574536" y="3675888"/>
            <a:ext cx="4636008" cy="621792"/>
          </a:xfrm>
          <a:prstGeom prst="roundRect">
            <a:avLst>
              <a:gd name="adj" fmla="val 11765"/>
            </a:avLst>
          </a:prstGeom>
          <a:solidFill>
            <a:srgbClr val="FAFAFB"/>
          </a:solidFill>
          <a:ln w="12700">
            <a:solidFill>
              <a:srgbClr val="E8E7E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720840" y="3675888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3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폴더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8412480" y="367588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.ddobak-folder.tgz — 하위 구조·회의 계층 보존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574536" y="4425696"/>
            <a:ext cx="4636008" cy="621792"/>
          </a:xfrm>
          <a:prstGeom prst="roundRect">
            <a:avLst>
              <a:gd name="adj" fmla="val 11765"/>
            </a:avLst>
          </a:prstGeom>
          <a:solidFill>
            <a:srgbClr val="FAFAFB"/>
          </a:solidFill>
          <a:ln w="12700">
            <a:solidFill>
              <a:srgbClr val="E8E7E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720840" y="4425696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3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프로젝트 전체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8412480" y="442569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.tgz — 통째로 이관·백업 (관리자)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574536" y="5257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가져오기는 파일 종류(회의·폴더)를 자동 구분해 현재 위치로 들어옵니다.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594360" y="6419088"/>
            <a:ext cx="11002975" cy="0"/>
          </a:xfrm>
          <a:prstGeom prst="line">
            <a:avLst/>
          </a:prstGeom>
          <a:noFill/>
          <a:ln w="12700">
            <a:solidFill>
              <a:srgbClr val="E8E7EF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</a:t>
            </a:r>
            <a:pPr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·  실시간 AI 회의록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976853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17220"/>
            <a:ext cx="100584" cy="10058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관리 · AI 챗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8412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회의에 직접 묻고, 여러 회의를 가로질러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" y="1924812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905256" y="1828800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회의에 질문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자연어로 묻고 실시간 스트리밍 답변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58775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" y="2638044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2542032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스코프 전환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이 회의 / 폴더 / 프로젝트 전체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" y="3351276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" y="3255264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교차 회의 Q&amp;A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폴더·프로젝트를 가로질러 의미검색으로 답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01421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" y="4064508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" y="3968496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 인용 점프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답변 문장의 인용 클릭 시 해당 회의로 이동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72744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EFE"/>
          </a:solidFill>
          <a:ln w="12700">
            <a:solidFill>
              <a:srgbClr val="E3E2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" y="4777740"/>
            <a:ext cx="5486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" y="4681728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per-user 비공개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나에게만 보임, 답변 모델명 표시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394960" cy="3329254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228600" dist="76200" dir="8100000">
              <a:srgbClr val="231A5C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700784"/>
            <a:ext cx="109728" cy="109728"/>
          </a:xfrm>
          <a:prstGeom prst="ellipse">
            <a:avLst/>
          </a:prstGeom>
          <a:solidFill>
            <a:srgbClr val="FC8D86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1700784"/>
            <a:ext cx="109728" cy="109728"/>
          </a:xfrm>
          <a:prstGeom prst="ellipse">
            <a:avLst/>
          </a:prstGeom>
          <a:solidFill>
            <a:srgbClr val="F7C64F"/>
          </a:solidFill>
          <a:ln/>
        </p:spPr>
      </p:sp>
      <p:sp>
        <p:nvSpPr>
          <p:cNvPr id="23" name="Shape 21"/>
          <p:cNvSpPr/>
          <p:nvPr/>
        </p:nvSpPr>
        <p:spPr>
          <a:xfrm>
            <a:off x="6720840" y="1700784"/>
            <a:ext cx="109728" cy="109728"/>
          </a:xfrm>
          <a:prstGeom prst="ellipse">
            <a:avLst/>
          </a:prstGeom>
          <a:solidFill>
            <a:srgbClr val="62C878"/>
          </a:solidFill>
          <a:ln/>
        </p:spPr>
      </p:sp>
      <p:sp>
        <p:nvSpPr>
          <p:cNvPr id="24" name="Shape 22"/>
          <p:cNvSpPr/>
          <p:nvPr/>
        </p:nvSpPr>
        <p:spPr>
          <a:xfrm>
            <a:off x="7013448" y="1668780"/>
            <a:ext cx="4370832" cy="182880"/>
          </a:xfrm>
          <a:prstGeom prst="roundRect">
            <a:avLst>
              <a:gd name="adj" fmla="val 25000"/>
            </a:avLst>
          </a:prstGeom>
          <a:solidFill>
            <a:srgbClr val="FAFAFB"/>
          </a:solidFill>
          <a:ln w="12700">
            <a:solidFill>
              <a:srgbClr val="E8E7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23176" y="16687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또박또박 — 회의 상세 · AI 챗 스코프</a:t>
            </a:r>
            <a:endParaRPr lang="en-US" sz="750" dirty="0"/>
          </a:p>
        </p:txBody>
      </p:sp>
      <p:pic>
        <p:nvPicPr>
          <p:cNvPr id="26" name="Image 0" descr="/Users/jji/project/ddobakddobak/docs/landing/assets/05-meeting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911096"/>
            <a:ext cx="5248656" cy="290863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6245352" y="1911096"/>
            <a:ext cx="5248656" cy="2908630"/>
          </a:xfrm>
          <a:prstGeom prst="rect">
            <a:avLst/>
          </a:prstGeom>
          <a:ln w="9525">
            <a:solidFill>
              <a:srgbClr val="E8E7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4360" y="5532120"/>
            <a:ext cx="5166360" cy="457200"/>
          </a:xfrm>
          <a:prstGeom prst="roundRect">
            <a:avLst>
              <a:gd name="adj" fmla="val 20000"/>
            </a:avLst>
          </a:prstGeom>
          <a:solidFill>
            <a:srgbClr val="EEEEFE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5532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쿼리 확장  </a:t>
            </a:r>
            <a:pPr indent="0" marL="0">
              <a:buNone/>
            </a:pPr>
            <a:r>
              <a:rPr lang="en-US" sz="110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동의어·약어까지 찾아 재현율↑ · 챗 답변 Mermaid 렌더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94360" y="6419088"/>
            <a:ext cx="11002975" cy="0"/>
          </a:xfrm>
          <a:prstGeom prst="line">
            <a:avLst/>
          </a:prstGeom>
          <a:noFill/>
          <a:ln w="12700">
            <a:solidFill>
              <a:srgbClr val="E8E7E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</a:t>
            </a:r>
            <a:pPr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·  실시간 AI 회의록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76853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F98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03 / 03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2148840"/>
            <a:ext cx="1051560" cy="1051560"/>
          </a:xfrm>
          <a:prstGeom prst="roundRect">
            <a:avLst>
              <a:gd name="adj" fmla="val 2608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23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" y="3538728"/>
            <a:ext cx="109728" cy="109728"/>
          </a:xfrm>
          <a:prstGeom prst="ellipse">
            <a:avLst/>
          </a:prstGeom>
          <a:solidFill>
            <a:srgbClr val="FB5B5B"/>
          </a:solidFill>
          <a:ln/>
        </p:spPr>
      </p:sp>
      <p:sp>
        <p:nvSpPr>
          <p:cNvPr id="6" name="Text 3"/>
          <p:cNvSpPr/>
          <p:nvPr/>
        </p:nvSpPr>
        <p:spPr>
          <a:xfrm>
            <a:off x="1042416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9C3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회의 전·중·후를 빈틈없이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" y="3749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그외 기능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4892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8D5F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· 공유 · 예약 · 설정 · 크로스플랫폼 — 필요한 만큼만 켜서 씁니다.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17220"/>
            <a:ext cx="100584" cy="100584"/>
          </a:xfrm>
          <a:prstGeom prst="ellipse">
            <a:avLst/>
          </a:prstGeom>
          <a:solidFill>
            <a:srgbClr val="E08A0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E08A0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그외 기능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8412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 전·중·후를 모두 덮습니다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1993392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EEE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1226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2651760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10" name="Text 7"/>
          <p:cNvSpPr/>
          <p:nvPr/>
        </p:nvSpPr>
        <p:spPr>
          <a:xfrm>
            <a:off x="1014984" y="257860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전역 검색(전사+요약)·하이라이트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68680" y="2944368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12" name="Text 9"/>
          <p:cNvSpPr/>
          <p:nvPr/>
        </p:nvSpPr>
        <p:spPr>
          <a:xfrm>
            <a:off x="1014984" y="2871216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화자·날짜·상태 필터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68680" y="3236976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14" name="Text 11"/>
          <p:cNvSpPr/>
          <p:nvPr/>
        </p:nvSpPr>
        <p:spPr>
          <a:xfrm>
            <a:off x="1014984" y="316382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 내 검색 · 의미검색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425696" y="173736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81728" y="1993392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EEEF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112264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48656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공유 · 권한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4700016" y="2651760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20" name="Text 16"/>
          <p:cNvSpPr/>
          <p:nvPr/>
        </p:nvSpPr>
        <p:spPr>
          <a:xfrm>
            <a:off x="4846320" y="257860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6자리 코드 실시간 공유(최대 20명)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700016" y="2944368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22" name="Text 18"/>
          <p:cNvSpPr/>
          <p:nvPr/>
        </p:nvSpPr>
        <p:spPr>
          <a:xfrm>
            <a:off x="4846320" y="2871216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읽기전용 뷰어 모드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700016" y="3236976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24" name="Text 20"/>
          <p:cNvSpPr/>
          <p:nvPr/>
        </p:nvSpPr>
        <p:spPr>
          <a:xfrm>
            <a:off x="4846320" y="316382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호스트 위임·승계 · 회의 잠금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257032" y="173736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513064" y="1993392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EEEFE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112264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079992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예약 · 자동화</a:t>
            </a:r>
            <a:endParaRPr lang="en-US" sz="1450" dirty="0"/>
          </a:p>
        </p:txBody>
      </p:sp>
      <p:sp>
        <p:nvSpPr>
          <p:cNvPr id="29" name="Shape 24"/>
          <p:cNvSpPr/>
          <p:nvPr/>
        </p:nvSpPr>
        <p:spPr>
          <a:xfrm>
            <a:off x="8531352" y="2651760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30" name="Text 25"/>
          <p:cNvSpPr/>
          <p:nvPr/>
        </p:nvSpPr>
        <p:spPr>
          <a:xfrm>
            <a:off x="8677656" y="257860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예약 자동/수동 시작 · 주간 반복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8531352" y="2944368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32" name="Text 27"/>
          <p:cNvSpPr/>
          <p:nvPr/>
        </p:nvSpPr>
        <p:spPr>
          <a:xfrm>
            <a:off x="8677656" y="2871216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다가오는·놓친 예약 안내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8531352" y="3236976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34" name="Text 29"/>
          <p:cNvSpPr/>
          <p:nvPr/>
        </p:nvSpPr>
        <p:spPr>
          <a:xfrm>
            <a:off x="8677656" y="316382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데스크톱 백그라운드·트레이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594360" y="3739896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850392" y="399592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EEEFE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114800"/>
            <a:ext cx="219456" cy="21945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417320" y="3995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 · 모델</a:t>
            </a:r>
            <a:endParaRPr lang="en-US" sz="1450" dirty="0"/>
          </a:p>
        </p:txBody>
      </p:sp>
      <p:sp>
        <p:nvSpPr>
          <p:cNvPr id="39" name="Shape 33"/>
          <p:cNvSpPr/>
          <p:nvPr/>
        </p:nvSpPr>
        <p:spPr>
          <a:xfrm>
            <a:off x="868680" y="4654296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40" name="Text 34"/>
          <p:cNvSpPr/>
          <p:nvPr/>
        </p:nvSpPr>
        <p:spPr>
          <a:xfrm>
            <a:off x="1014984" y="458114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개인/전역 LLM 선택·테스트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868680" y="4946904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42" name="Text 36"/>
          <p:cNvSpPr/>
          <p:nvPr/>
        </p:nvSpPr>
        <p:spPr>
          <a:xfrm>
            <a:off x="1014984" y="487375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LLM(Ollama)로 오프라인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868680" y="5239512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44" name="Text 38"/>
          <p:cNvSpPr/>
          <p:nvPr/>
        </p:nvSpPr>
        <p:spPr>
          <a:xfrm>
            <a:off x="1014984" y="516636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 언어 9종 · 오타사전 · 템플릿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4425696" y="3739896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4681728" y="399592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EEEFE"/>
          </a:solidFill>
          <a:ln/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114800"/>
            <a:ext cx="219456" cy="219456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248656" y="3995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데스크톱 · 모바일</a:t>
            </a:r>
            <a:endParaRPr lang="en-US" sz="1450" dirty="0"/>
          </a:p>
        </p:txBody>
      </p:sp>
      <p:sp>
        <p:nvSpPr>
          <p:cNvPr id="49" name="Shape 42"/>
          <p:cNvSpPr/>
          <p:nvPr/>
        </p:nvSpPr>
        <p:spPr>
          <a:xfrm>
            <a:off x="4700016" y="4654296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50" name="Text 43"/>
          <p:cNvSpPr/>
          <p:nvPr/>
        </p:nvSpPr>
        <p:spPr>
          <a:xfrm>
            <a:off x="4846320" y="458114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macOS·Windows·Linux 앱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4700016" y="4946904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52" name="Text 45"/>
          <p:cNvSpPr/>
          <p:nvPr/>
        </p:nvSpPr>
        <p:spPr>
          <a:xfrm>
            <a:off x="4846320" y="487375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모바일 잠금화면 백그라운드 녹음</a:t>
            </a:r>
            <a:endParaRPr lang="en-US" sz="1050" dirty="0"/>
          </a:p>
        </p:txBody>
      </p:sp>
      <p:sp>
        <p:nvSpPr>
          <p:cNvPr id="53" name="Shape 46"/>
          <p:cNvSpPr/>
          <p:nvPr/>
        </p:nvSpPr>
        <p:spPr>
          <a:xfrm>
            <a:off x="4700016" y="5239512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54" name="Text 47"/>
          <p:cNvSpPr/>
          <p:nvPr/>
        </p:nvSpPr>
        <p:spPr>
          <a:xfrm>
            <a:off x="4846320" y="516636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완전 오프라인 온디바이스 전사</a:t>
            </a:r>
            <a:endParaRPr lang="en-US" sz="1050" dirty="0"/>
          </a:p>
        </p:txBody>
      </p:sp>
      <p:sp>
        <p:nvSpPr>
          <p:cNvPr id="55" name="Shape 48"/>
          <p:cNvSpPr/>
          <p:nvPr/>
        </p:nvSpPr>
        <p:spPr>
          <a:xfrm>
            <a:off x="8257032" y="3739896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101600" dist="25400" dir="8100000">
              <a:srgbClr val="17151F">
                <a:alpha val="10000"/>
              </a:srgbClr>
            </a:outerShdw>
          </a:effectLst>
        </p:spPr>
      </p:sp>
      <p:sp>
        <p:nvSpPr>
          <p:cNvPr id="56" name="Shape 49"/>
          <p:cNvSpPr/>
          <p:nvPr/>
        </p:nvSpPr>
        <p:spPr>
          <a:xfrm>
            <a:off x="8513064" y="399592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EEEFE"/>
          </a:solidFill>
          <a:ln/>
        </p:spPr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4114800"/>
            <a:ext cx="219456" cy="219456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9079992" y="3995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부가 도구</a:t>
            </a:r>
            <a:endParaRPr lang="en-US" sz="1450" dirty="0"/>
          </a:p>
        </p:txBody>
      </p:sp>
      <p:sp>
        <p:nvSpPr>
          <p:cNvPr id="59" name="Shape 51"/>
          <p:cNvSpPr/>
          <p:nvPr/>
        </p:nvSpPr>
        <p:spPr>
          <a:xfrm>
            <a:off x="8531352" y="4654296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60" name="Text 52"/>
          <p:cNvSpPr/>
          <p:nvPr/>
        </p:nvSpPr>
        <p:spPr>
          <a:xfrm>
            <a:off x="8677656" y="458114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대시보드 · 파형 플레이어</a:t>
            </a:r>
            <a:endParaRPr lang="en-US" sz="1050" dirty="0"/>
          </a:p>
        </p:txBody>
      </p:sp>
      <p:sp>
        <p:nvSpPr>
          <p:cNvPr id="61" name="Shape 53"/>
          <p:cNvSpPr/>
          <p:nvPr/>
        </p:nvSpPr>
        <p:spPr>
          <a:xfrm>
            <a:off x="8531352" y="4946904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62" name="Text 54"/>
          <p:cNvSpPr/>
          <p:nvPr/>
        </p:nvSpPr>
        <p:spPr>
          <a:xfrm>
            <a:off x="8677656" y="487375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타임스탬프 북마크 · 명함 OCR</a:t>
            </a:r>
            <a:endParaRPr lang="en-US" sz="1050" dirty="0"/>
          </a:p>
        </p:txBody>
      </p:sp>
      <p:sp>
        <p:nvSpPr>
          <p:cNvPr id="63" name="Shape 55"/>
          <p:cNvSpPr/>
          <p:nvPr/>
        </p:nvSpPr>
        <p:spPr>
          <a:xfrm>
            <a:off x="8531352" y="5239512"/>
            <a:ext cx="54864" cy="54864"/>
          </a:xfrm>
          <a:prstGeom prst="rect">
            <a:avLst/>
          </a:prstGeom>
          <a:solidFill>
            <a:srgbClr val="E08A08"/>
          </a:solidFill>
          <a:ln/>
        </p:spPr>
      </p:sp>
      <p:sp>
        <p:nvSpPr>
          <p:cNvPr id="64" name="Text 56"/>
          <p:cNvSpPr/>
          <p:nvPr/>
        </p:nvSpPr>
        <p:spPr>
          <a:xfrm>
            <a:off x="8677656" y="516636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휴지통 소프트삭제·복구</a:t>
            </a:r>
            <a:endParaRPr lang="en-US" sz="1050" dirty="0"/>
          </a:p>
        </p:txBody>
      </p:sp>
      <p:sp>
        <p:nvSpPr>
          <p:cNvPr id="65" name="Shape 57"/>
          <p:cNvSpPr/>
          <p:nvPr/>
        </p:nvSpPr>
        <p:spPr>
          <a:xfrm>
            <a:off x="594360" y="6419088"/>
            <a:ext cx="11002975" cy="0"/>
          </a:xfrm>
          <a:prstGeom prst="line">
            <a:avLst/>
          </a:prstGeom>
          <a:noFill/>
          <a:ln w="12700">
            <a:solidFill>
              <a:srgbClr val="E8E7EF"/>
            </a:solidFill>
            <a:prstDash val="solid"/>
          </a:ln>
        </p:spPr>
      </p:sp>
      <p:sp>
        <p:nvSpPr>
          <p:cNvPr id="66" name="Text 58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</a:t>
            </a:r>
            <a:pPr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·  실시간 AI 회의록</a:t>
            </a:r>
            <a:endParaRPr lang="en-US" sz="900" dirty="0"/>
          </a:p>
        </p:txBody>
      </p:sp>
      <p:sp>
        <p:nvSpPr>
          <p:cNvPr id="67" name="Text 59"/>
          <p:cNvSpPr/>
          <p:nvPr/>
        </p:nvSpPr>
        <p:spPr>
          <a:xfrm>
            <a:off x="976853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17220"/>
            <a:ext cx="100584" cy="100584"/>
          </a:xfrm>
          <a:prstGeom prst="ellipse">
            <a:avLst/>
          </a:prstGeom>
          <a:solidFill>
            <a:srgbClr val="FB5B5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왜 또박또박인가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8412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클라우드 회의록이 못 주는 네 가지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643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받아쓰기 정확도는 어디나 비슷해집니다. 차이는 데이터가 어디에 있고, 회의록을 얼마나 믿을 수 있고, 팀이 함께 쓸 수 있느냐에서 납니다.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249631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주권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280160" y="282549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음성·전사·요약이 우리 인프라 밖으로 나가지 않습니다.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3410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33924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 기반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280160" y="372160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요약·답변을 발화 시각·화자로 검증. 환각을 한 번에 확인.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4306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428853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교차 회의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280160" y="4617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회의가 아니라 폴더·프로젝트 전체에 질문. 쌓일수록 똑똑.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5202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51846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자유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280160" y="551383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요약·챗 모델 직접 선택. Anthropic·OpenAI·로컬 Ollama.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1828800"/>
            <a:ext cx="5394960" cy="3329254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E8E7EF"/>
            </a:solidFill>
            <a:prstDash val="solid"/>
          </a:ln>
          <a:effectLst>
            <a:outerShdw sx="100000" sy="100000" kx="0" ky="0" algn="bl" rotWithShape="0" blurRad="228600" dist="76200" dir="8100000">
              <a:srgbClr val="231A5C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929384"/>
            <a:ext cx="109728" cy="109728"/>
          </a:xfrm>
          <a:prstGeom prst="ellipse">
            <a:avLst/>
          </a:prstGeom>
          <a:solidFill>
            <a:srgbClr val="FC8D86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1929384"/>
            <a:ext cx="109728" cy="109728"/>
          </a:xfrm>
          <a:prstGeom prst="ellipse">
            <a:avLst/>
          </a:prstGeom>
          <a:solidFill>
            <a:srgbClr val="F7C64F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0840" y="1929384"/>
            <a:ext cx="109728" cy="109728"/>
          </a:xfrm>
          <a:prstGeom prst="ellipse">
            <a:avLst/>
          </a:prstGeom>
          <a:solidFill>
            <a:srgbClr val="62C878"/>
          </a:solidFill>
          <a:ln/>
        </p:spPr>
      </p:sp>
      <p:sp>
        <p:nvSpPr>
          <p:cNvPr id="22" name="Shape 20"/>
          <p:cNvSpPr/>
          <p:nvPr/>
        </p:nvSpPr>
        <p:spPr>
          <a:xfrm>
            <a:off x="7013448" y="1897380"/>
            <a:ext cx="4370832" cy="182880"/>
          </a:xfrm>
          <a:prstGeom prst="roundRect">
            <a:avLst>
              <a:gd name="adj" fmla="val 25000"/>
            </a:avLst>
          </a:prstGeom>
          <a:solidFill>
            <a:srgbClr val="FAFAFB"/>
          </a:solidFill>
          <a:ln w="12700">
            <a:solidFill>
              <a:srgbClr val="E8E7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23176" y="18973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또박또박 — 음성·인식 · 모델 설정</a:t>
            </a:r>
            <a:endParaRPr lang="en-US" sz="750" dirty="0"/>
          </a:p>
        </p:txBody>
      </p:sp>
      <p:pic>
        <p:nvPicPr>
          <p:cNvPr id="24" name="Image 0" descr="/Users/jji/project/ddobakddobak/docs/landing/assets/12-settings-au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2139696"/>
            <a:ext cx="5248656" cy="290863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245352" y="2139696"/>
            <a:ext cx="5248656" cy="2908630"/>
          </a:xfrm>
          <a:prstGeom prst="rect">
            <a:avLst/>
          </a:prstGeom>
          <a:ln w="9525">
            <a:solidFill>
              <a:srgbClr val="E8E7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6419088"/>
            <a:ext cx="11002975" cy="0"/>
          </a:xfrm>
          <a:prstGeom prst="line">
            <a:avLst/>
          </a:prstGeom>
          <a:noFill/>
          <a:ln w="12700">
            <a:solidFill>
              <a:srgbClr val="E8E7E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5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</a:t>
            </a:r>
            <a:pPr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·  실시간 AI 회의록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76853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7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691640"/>
            <a:ext cx="118872" cy="118872"/>
          </a:xfrm>
          <a:prstGeom prst="ellipse">
            <a:avLst/>
          </a:prstGeom>
          <a:solidFill>
            <a:srgbClr val="FB5B5B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0" y="157276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CFCB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셀프호스트 · 무료로 시작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2148840"/>
            <a:ext cx="121916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회의록 쓰는 시간,</a:t>
            </a:r>
            <a:endParaRPr lang="en-US" sz="4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또박또박에 맡기세요.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9776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8D5F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데스크톱 앱을 설치하거나 팀 서버에 올리면 끝. 첫 회의부터 받아쓰기와 AI 회의록이 함께 시작됩니다.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81098" y="4892040"/>
            <a:ext cx="2583180" cy="49377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81098" y="4892040"/>
            <a:ext cx="25831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설치 가이드 (배포가이드.md)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47158" y="4892040"/>
            <a:ext cx="1440180" cy="49377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7158" y="4892040"/>
            <a:ext cx="14401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기능 인벤토리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70218" y="4892040"/>
            <a:ext cx="3040380" cy="49377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70218" y="4892040"/>
            <a:ext cx="30403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소개 페이지 (docs/landing)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44288" y="5897880"/>
            <a:ext cx="2103120" cy="457200"/>
          </a:xfrm>
          <a:prstGeom prst="roundRect">
            <a:avLst>
              <a:gd name="adj" fmla="val 26000"/>
            </a:avLst>
          </a:prstGeom>
          <a:ln/>
        </p:spPr>
      </p:sp>
      <p:sp>
        <p:nvSpPr>
          <p:cNvPr id="13" name="Shape 11"/>
          <p:cNvSpPr/>
          <p:nvPr/>
        </p:nvSpPr>
        <p:spPr>
          <a:xfrm>
            <a:off x="5044288" y="6053328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44288" y="6053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01488" y="60533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또박또박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ddobakddobak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또박또박 — 현업 소개</dc:title>
  <dc:subject>PptxGenJS Presentation</dc:subject>
  <dc:creator>또박또박</dc:creator>
  <cp:lastModifiedBy>또박또박</cp:lastModifiedBy>
  <cp:revision>1</cp:revision>
  <dcterms:created xsi:type="dcterms:W3CDTF">2026-07-01T03:42:22Z</dcterms:created>
  <dcterms:modified xsi:type="dcterms:W3CDTF">2026-07-01T03:42:22Z</dcterms:modified>
</cp:coreProperties>
</file>